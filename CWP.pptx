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5" r:id="rId1"/>
  </p:sldMasterIdLst>
  <p:sldIdLst>
    <p:sldId id="256" r:id="rId2"/>
    <p:sldId id="257" r:id="rId3"/>
    <p:sldId id="258" r:id="rId4"/>
    <p:sldId id="259" r:id="rId5"/>
    <p:sldId id="271" r:id="rId6"/>
    <p:sldId id="261" r:id="rId7"/>
    <p:sldId id="262" r:id="rId8"/>
    <p:sldId id="272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AC4D78-3C5A-4384-939B-56880926015B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5AB3421-D66D-4C9F-93F4-78947FE21964}">
      <dgm:prSet/>
      <dgm:spPr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gm:spPr>
      <dgm:t>
        <a:bodyPr/>
        <a:lstStyle/>
        <a:p>
          <a:r>
            <a:rPr lang="pl-PL" b="1" dirty="0"/>
            <a:t>Schemat ataku przez </a:t>
          </a:r>
          <a:r>
            <a:rPr lang="pl-PL" b="1" dirty="0" err="1"/>
            <a:t>upload</a:t>
          </a:r>
          <a:r>
            <a:rPr lang="pl-PL" b="1" dirty="0"/>
            <a:t>:</a:t>
          </a:r>
          <a:endParaRPr lang="en-US" dirty="0"/>
        </a:p>
      </dgm:t>
    </dgm:pt>
    <dgm:pt modelId="{0C715E8E-C0EC-4E2C-9DA3-78F7B781190B}" type="parTrans" cxnId="{2BC38965-FF61-4AF1-8F9B-3E6F5D52E887}">
      <dgm:prSet/>
      <dgm:spPr/>
      <dgm:t>
        <a:bodyPr/>
        <a:lstStyle/>
        <a:p>
          <a:endParaRPr lang="en-US"/>
        </a:p>
      </dgm:t>
    </dgm:pt>
    <dgm:pt modelId="{592B4627-4FB5-45D2-8A27-C3F2E7AF381C}" type="sibTrans" cxnId="{2BC38965-FF61-4AF1-8F9B-3E6F5D52E887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1905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US"/>
        </a:p>
      </dgm:t>
    </dgm:pt>
    <dgm:pt modelId="{5EF43509-5612-4782-BF90-4848264B5FC5}">
      <dgm:prSet/>
      <dgm:spPr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gm:spPr>
      <dgm:t>
        <a:bodyPr/>
        <a:lstStyle/>
        <a:p>
          <a:r>
            <a:rPr lang="pl-PL" dirty="0"/>
            <a:t>1. </a:t>
          </a:r>
          <a:r>
            <a:rPr lang="pl-PL" b="1" dirty="0"/>
            <a:t>Atakujący:</a:t>
          </a:r>
          <a:r>
            <a:rPr lang="pl-PL" dirty="0"/>
            <a:t> wysyła „foto.php.jpg" z fałszywym Content-</a:t>
          </a:r>
          <a:r>
            <a:rPr lang="pl-PL" dirty="0" err="1"/>
            <a:t>Type</a:t>
          </a:r>
          <a:r>
            <a:rPr lang="pl-PL" dirty="0"/>
            <a:t>.</a:t>
          </a:r>
          <a:endParaRPr lang="en-US" dirty="0"/>
        </a:p>
      </dgm:t>
    </dgm:pt>
    <dgm:pt modelId="{2DC7F5E8-2AA1-44CB-80BB-3698C87CBE01}" type="parTrans" cxnId="{5E53D3CF-E66E-4E64-A6CF-45205FEFB160}">
      <dgm:prSet/>
      <dgm:spPr/>
      <dgm:t>
        <a:bodyPr/>
        <a:lstStyle/>
        <a:p>
          <a:endParaRPr lang="en-US"/>
        </a:p>
      </dgm:t>
    </dgm:pt>
    <dgm:pt modelId="{82072DFE-7168-4C6D-979F-FC008E04A9ED}" type="sibTrans" cxnId="{5E53D3CF-E66E-4E64-A6CF-45205FEFB160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1905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US"/>
        </a:p>
      </dgm:t>
    </dgm:pt>
    <dgm:pt modelId="{8C73036D-F849-403D-BB4F-9F25CF68FA2E}">
      <dgm:prSet/>
      <dgm:spPr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gm:spPr>
      <dgm:t>
        <a:bodyPr/>
        <a:lstStyle/>
        <a:p>
          <a:r>
            <a:rPr lang="pl-PL"/>
            <a:t>2. </a:t>
          </a:r>
          <a:r>
            <a:rPr lang="pl-PL" b="1"/>
            <a:t>Serwis:</a:t>
          </a:r>
          <a:r>
            <a:rPr lang="pl-PL"/>
            <a:t> sprawdza tylko rozszerzenie lub nagłówek.</a:t>
          </a:r>
          <a:endParaRPr lang="en-US"/>
        </a:p>
      </dgm:t>
    </dgm:pt>
    <dgm:pt modelId="{52D2B435-85DB-4D1F-865F-16187F9D6B52}" type="parTrans" cxnId="{136D2346-3973-42A6-A019-697A9E8BCE1E}">
      <dgm:prSet/>
      <dgm:spPr/>
      <dgm:t>
        <a:bodyPr/>
        <a:lstStyle/>
        <a:p>
          <a:endParaRPr lang="en-US"/>
        </a:p>
      </dgm:t>
    </dgm:pt>
    <dgm:pt modelId="{B1F965CB-4DDE-4544-A62D-20702C2EAC4F}" type="sibTrans" cxnId="{136D2346-3973-42A6-A019-697A9E8BCE1E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1905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US"/>
        </a:p>
      </dgm:t>
    </dgm:pt>
    <dgm:pt modelId="{149EF2D8-51C6-4ACC-9CF3-A2D1ECCE6DCD}">
      <dgm:prSet/>
      <dgm:spPr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gm:spPr>
      <dgm:t>
        <a:bodyPr/>
        <a:lstStyle/>
        <a:p>
          <a:r>
            <a:rPr lang="pl-PL"/>
            <a:t>3. </a:t>
          </a:r>
          <a:r>
            <a:rPr lang="pl-PL" b="1"/>
            <a:t>Zapis:</a:t>
          </a:r>
          <a:r>
            <a:rPr lang="pl-PL"/>
            <a:t> plik ląduje w katalogu dostępnym z sieci. </a:t>
          </a:r>
          <a:endParaRPr lang="en-US"/>
        </a:p>
      </dgm:t>
    </dgm:pt>
    <dgm:pt modelId="{A4576C03-244B-4446-A375-D68C69F9810A}" type="parTrans" cxnId="{A7D3327E-38A6-4BBF-BEA8-4BB8B29184C4}">
      <dgm:prSet/>
      <dgm:spPr/>
      <dgm:t>
        <a:bodyPr/>
        <a:lstStyle/>
        <a:p>
          <a:endParaRPr lang="en-US"/>
        </a:p>
      </dgm:t>
    </dgm:pt>
    <dgm:pt modelId="{FF06FE45-9D21-4693-AA57-DE02A65D0B59}" type="sibTrans" cxnId="{A7D3327E-38A6-4BBF-BEA8-4BB8B29184C4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1905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US"/>
        </a:p>
      </dgm:t>
    </dgm:pt>
    <dgm:pt modelId="{FD46903A-2131-435F-BCDF-719E36213BB4}">
      <dgm:prSet/>
      <dgm:spPr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gm:spPr>
      <dgm:t>
        <a:bodyPr/>
        <a:lstStyle/>
        <a:p>
          <a:r>
            <a:rPr lang="pl-PL"/>
            <a:t>4. </a:t>
          </a:r>
          <a:r>
            <a:rPr lang="pl-PL" b="1"/>
            <a:t>Wywołanie:</a:t>
          </a:r>
          <a:r>
            <a:rPr lang="pl-PL"/>
            <a:t> atakujący otwiera adres pliku w przeglądarce. </a:t>
          </a:r>
          <a:endParaRPr lang="en-US"/>
        </a:p>
      </dgm:t>
    </dgm:pt>
    <dgm:pt modelId="{8EEF3B27-B638-43D7-8C91-F50A11A602F6}" type="parTrans" cxnId="{53C1A54D-6677-4C6A-BFAF-14C9BFBAA1A0}">
      <dgm:prSet/>
      <dgm:spPr/>
      <dgm:t>
        <a:bodyPr/>
        <a:lstStyle/>
        <a:p>
          <a:endParaRPr lang="en-US"/>
        </a:p>
      </dgm:t>
    </dgm:pt>
    <dgm:pt modelId="{D4B59FE6-15B1-4A79-BF8A-9574AB8C3114}" type="sibTrans" cxnId="{53C1A54D-6677-4C6A-BFAF-14C9BFBAA1A0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1905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US"/>
        </a:p>
      </dgm:t>
    </dgm:pt>
    <dgm:pt modelId="{1FD0CDA9-6A42-46B8-A74E-B0AE5838B310}">
      <dgm:prSet/>
      <dgm:spPr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gm:spPr>
      <dgm:t>
        <a:bodyPr/>
        <a:lstStyle/>
        <a:p>
          <a:r>
            <a:rPr lang="pl-PL" dirty="0"/>
            <a:t>5.</a:t>
          </a:r>
          <a:r>
            <a:rPr lang="pl-PL" b="1" dirty="0"/>
            <a:t> Skutek:</a:t>
          </a:r>
          <a:r>
            <a:rPr lang="pl-PL" dirty="0"/>
            <a:t> serwer wykonuje kod → RCE.</a:t>
          </a:r>
          <a:endParaRPr lang="en-US" dirty="0"/>
        </a:p>
      </dgm:t>
    </dgm:pt>
    <dgm:pt modelId="{F741BC7F-A2A6-4960-8BF7-2640718900D5}" type="parTrans" cxnId="{32725D90-F937-42DF-BBB7-E2EA1A036C87}">
      <dgm:prSet/>
      <dgm:spPr/>
      <dgm:t>
        <a:bodyPr/>
        <a:lstStyle/>
        <a:p>
          <a:endParaRPr lang="en-US"/>
        </a:p>
      </dgm:t>
    </dgm:pt>
    <dgm:pt modelId="{335E1230-D97C-4345-89E9-EA25A08BCCE2}" type="sibTrans" cxnId="{32725D90-F937-42DF-BBB7-E2EA1A036C87}">
      <dgm:prSet/>
      <dgm:spPr/>
      <dgm:t>
        <a:bodyPr/>
        <a:lstStyle/>
        <a:p>
          <a:endParaRPr lang="en-US"/>
        </a:p>
      </dgm:t>
    </dgm:pt>
    <dgm:pt modelId="{5D131707-82E1-4770-A6DC-AB283580E0AD}" type="pres">
      <dgm:prSet presAssocID="{18AC4D78-3C5A-4384-939B-56880926015B}" presName="Name0" presStyleCnt="0">
        <dgm:presLayoutVars>
          <dgm:dir/>
          <dgm:resizeHandles val="exact"/>
        </dgm:presLayoutVars>
      </dgm:prSet>
      <dgm:spPr/>
    </dgm:pt>
    <dgm:pt modelId="{C73F9D3F-E647-4FB7-AF6E-DB44441AC75D}" type="pres">
      <dgm:prSet presAssocID="{05AB3421-D66D-4C9F-93F4-78947FE21964}" presName="node" presStyleLbl="node1" presStyleIdx="0" presStyleCnt="6">
        <dgm:presLayoutVars>
          <dgm:bulletEnabled val="1"/>
        </dgm:presLayoutVars>
      </dgm:prSet>
      <dgm:spPr/>
    </dgm:pt>
    <dgm:pt modelId="{CD343EB1-1F44-496B-9D42-773E8792958C}" type="pres">
      <dgm:prSet presAssocID="{592B4627-4FB5-45D2-8A27-C3F2E7AF381C}" presName="sibTrans" presStyleLbl="sibTrans1D1" presStyleIdx="0" presStyleCnt="5"/>
      <dgm:spPr/>
    </dgm:pt>
    <dgm:pt modelId="{903F5F74-2D34-4799-A97F-A8D78FB1E067}" type="pres">
      <dgm:prSet presAssocID="{592B4627-4FB5-45D2-8A27-C3F2E7AF381C}" presName="connectorText" presStyleLbl="sibTrans1D1" presStyleIdx="0" presStyleCnt="5"/>
      <dgm:spPr/>
    </dgm:pt>
    <dgm:pt modelId="{DCFA8C70-0513-430E-B131-AA8821EC96BC}" type="pres">
      <dgm:prSet presAssocID="{5EF43509-5612-4782-BF90-4848264B5FC5}" presName="node" presStyleLbl="node1" presStyleIdx="1" presStyleCnt="6">
        <dgm:presLayoutVars>
          <dgm:bulletEnabled val="1"/>
        </dgm:presLayoutVars>
      </dgm:prSet>
      <dgm:spPr/>
    </dgm:pt>
    <dgm:pt modelId="{8ED031FF-50DD-4B3C-B6AF-0CA872EE8439}" type="pres">
      <dgm:prSet presAssocID="{82072DFE-7168-4C6D-979F-FC008E04A9ED}" presName="sibTrans" presStyleLbl="sibTrans1D1" presStyleIdx="1" presStyleCnt="5"/>
      <dgm:spPr/>
    </dgm:pt>
    <dgm:pt modelId="{D7D5A023-A755-4560-91E1-66D08C4CD90C}" type="pres">
      <dgm:prSet presAssocID="{82072DFE-7168-4C6D-979F-FC008E04A9ED}" presName="connectorText" presStyleLbl="sibTrans1D1" presStyleIdx="1" presStyleCnt="5"/>
      <dgm:spPr/>
    </dgm:pt>
    <dgm:pt modelId="{F034892F-411B-4E7D-9B2D-4FC920C6C0C9}" type="pres">
      <dgm:prSet presAssocID="{8C73036D-F849-403D-BB4F-9F25CF68FA2E}" presName="node" presStyleLbl="node1" presStyleIdx="2" presStyleCnt="6">
        <dgm:presLayoutVars>
          <dgm:bulletEnabled val="1"/>
        </dgm:presLayoutVars>
      </dgm:prSet>
      <dgm:spPr/>
    </dgm:pt>
    <dgm:pt modelId="{020FD3E1-2B8B-40C8-A209-283AFC1BFA64}" type="pres">
      <dgm:prSet presAssocID="{B1F965CB-4DDE-4544-A62D-20702C2EAC4F}" presName="sibTrans" presStyleLbl="sibTrans1D1" presStyleIdx="2" presStyleCnt="5"/>
      <dgm:spPr/>
    </dgm:pt>
    <dgm:pt modelId="{E0FA3CA9-42EE-4739-B25B-19AF444CE2CB}" type="pres">
      <dgm:prSet presAssocID="{B1F965CB-4DDE-4544-A62D-20702C2EAC4F}" presName="connectorText" presStyleLbl="sibTrans1D1" presStyleIdx="2" presStyleCnt="5"/>
      <dgm:spPr/>
    </dgm:pt>
    <dgm:pt modelId="{E60096AC-A58D-48EE-8583-9676D59A7E67}" type="pres">
      <dgm:prSet presAssocID="{149EF2D8-51C6-4ACC-9CF3-A2D1ECCE6DCD}" presName="node" presStyleLbl="node1" presStyleIdx="3" presStyleCnt="6">
        <dgm:presLayoutVars>
          <dgm:bulletEnabled val="1"/>
        </dgm:presLayoutVars>
      </dgm:prSet>
      <dgm:spPr/>
    </dgm:pt>
    <dgm:pt modelId="{B2D66E56-69A8-414B-BBA8-0C6E295516A6}" type="pres">
      <dgm:prSet presAssocID="{FF06FE45-9D21-4693-AA57-DE02A65D0B59}" presName="sibTrans" presStyleLbl="sibTrans1D1" presStyleIdx="3" presStyleCnt="5"/>
      <dgm:spPr/>
    </dgm:pt>
    <dgm:pt modelId="{14DE22ED-1323-4B20-AF76-93402C55EB62}" type="pres">
      <dgm:prSet presAssocID="{FF06FE45-9D21-4693-AA57-DE02A65D0B59}" presName="connectorText" presStyleLbl="sibTrans1D1" presStyleIdx="3" presStyleCnt="5"/>
      <dgm:spPr/>
    </dgm:pt>
    <dgm:pt modelId="{F2C0FD71-54CE-4E74-932D-A454DDB14837}" type="pres">
      <dgm:prSet presAssocID="{FD46903A-2131-435F-BCDF-719E36213BB4}" presName="node" presStyleLbl="node1" presStyleIdx="4" presStyleCnt="6">
        <dgm:presLayoutVars>
          <dgm:bulletEnabled val="1"/>
        </dgm:presLayoutVars>
      </dgm:prSet>
      <dgm:spPr/>
    </dgm:pt>
    <dgm:pt modelId="{A56A0031-C5B8-4A6D-B575-16236F1C8CFC}" type="pres">
      <dgm:prSet presAssocID="{D4B59FE6-15B1-4A79-BF8A-9574AB8C3114}" presName="sibTrans" presStyleLbl="sibTrans1D1" presStyleIdx="4" presStyleCnt="5"/>
      <dgm:spPr/>
    </dgm:pt>
    <dgm:pt modelId="{2D2C3492-3969-4CA0-A0B0-A267D431C518}" type="pres">
      <dgm:prSet presAssocID="{D4B59FE6-15B1-4A79-BF8A-9574AB8C3114}" presName="connectorText" presStyleLbl="sibTrans1D1" presStyleIdx="4" presStyleCnt="5"/>
      <dgm:spPr/>
    </dgm:pt>
    <dgm:pt modelId="{D65FFBBB-74A5-46E8-A7A4-12C8FB72C382}" type="pres">
      <dgm:prSet presAssocID="{1FD0CDA9-6A42-46B8-A74E-B0AE5838B310}" presName="node" presStyleLbl="node1" presStyleIdx="5" presStyleCnt="6">
        <dgm:presLayoutVars>
          <dgm:bulletEnabled val="1"/>
        </dgm:presLayoutVars>
      </dgm:prSet>
      <dgm:spPr/>
    </dgm:pt>
  </dgm:ptLst>
  <dgm:cxnLst>
    <dgm:cxn modelId="{5EE2020A-727D-4694-AD16-829B26289A13}" type="presOf" srcId="{8C73036D-F849-403D-BB4F-9F25CF68FA2E}" destId="{F034892F-411B-4E7D-9B2D-4FC920C6C0C9}" srcOrd="0" destOrd="0" presId="urn:microsoft.com/office/officeart/2016/7/layout/RepeatingBendingProcessNew"/>
    <dgm:cxn modelId="{2A46202A-5F5C-4F80-B6B1-286C16F33216}" type="presOf" srcId="{FD46903A-2131-435F-BCDF-719E36213BB4}" destId="{F2C0FD71-54CE-4E74-932D-A454DDB14837}" srcOrd="0" destOrd="0" presId="urn:microsoft.com/office/officeart/2016/7/layout/RepeatingBendingProcessNew"/>
    <dgm:cxn modelId="{0EAC003E-F4B5-441A-8CB9-C53203AF99AF}" type="presOf" srcId="{B1F965CB-4DDE-4544-A62D-20702C2EAC4F}" destId="{E0FA3CA9-42EE-4739-B25B-19AF444CE2CB}" srcOrd="1" destOrd="0" presId="urn:microsoft.com/office/officeart/2016/7/layout/RepeatingBendingProcessNew"/>
    <dgm:cxn modelId="{1658195B-3D8A-4433-B269-EDC7678AB8F6}" type="presOf" srcId="{FF06FE45-9D21-4693-AA57-DE02A65D0B59}" destId="{14DE22ED-1323-4B20-AF76-93402C55EB62}" srcOrd="1" destOrd="0" presId="urn:microsoft.com/office/officeart/2016/7/layout/RepeatingBendingProcessNew"/>
    <dgm:cxn modelId="{9A3B5541-D0D8-4865-BF0A-1F70EC2A1D92}" type="presOf" srcId="{D4B59FE6-15B1-4A79-BF8A-9574AB8C3114}" destId="{A56A0031-C5B8-4A6D-B575-16236F1C8CFC}" srcOrd="0" destOrd="0" presId="urn:microsoft.com/office/officeart/2016/7/layout/RepeatingBendingProcessNew"/>
    <dgm:cxn modelId="{2BC38965-FF61-4AF1-8F9B-3E6F5D52E887}" srcId="{18AC4D78-3C5A-4384-939B-56880926015B}" destId="{05AB3421-D66D-4C9F-93F4-78947FE21964}" srcOrd="0" destOrd="0" parTransId="{0C715E8E-C0EC-4E2C-9DA3-78F7B781190B}" sibTransId="{592B4627-4FB5-45D2-8A27-C3F2E7AF381C}"/>
    <dgm:cxn modelId="{136D2346-3973-42A6-A019-697A9E8BCE1E}" srcId="{18AC4D78-3C5A-4384-939B-56880926015B}" destId="{8C73036D-F849-403D-BB4F-9F25CF68FA2E}" srcOrd="2" destOrd="0" parTransId="{52D2B435-85DB-4D1F-865F-16187F9D6B52}" sibTransId="{B1F965CB-4DDE-4544-A62D-20702C2EAC4F}"/>
    <dgm:cxn modelId="{2D99A869-755F-4FB2-A89F-A675AA898B01}" type="presOf" srcId="{FF06FE45-9D21-4693-AA57-DE02A65D0B59}" destId="{B2D66E56-69A8-414B-BBA8-0C6E295516A6}" srcOrd="0" destOrd="0" presId="urn:microsoft.com/office/officeart/2016/7/layout/RepeatingBendingProcessNew"/>
    <dgm:cxn modelId="{53C1A54D-6677-4C6A-BFAF-14C9BFBAA1A0}" srcId="{18AC4D78-3C5A-4384-939B-56880926015B}" destId="{FD46903A-2131-435F-BCDF-719E36213BB4}" srcOrd="4" destOrd="0" parTransId="{8EEF3B27-B638-43D7-8C91-F50A11A602F6}" sibTransId="{D4B59FE6-15B1-4A79-BF8A-9574AB8C3114}"/>
    <dgm:cxn modelId="{9E6A776E-7D82-4483-A9E3-107B26F33C9D}" type="presOf" srcId="{1FD0CDA9-6A42-46B8-A74E-B0AE5838B310}" destId="{D65FFBBB-74A5-46E8-A7A4-12C8FB72C382}" srcOrd="0" destOrd="0" presId="urn:microsoft.com/office/officeart/2016/7/layout/RepeatingBendingProcessNew"/>
    <dgm:cxn modelId="{693D5051-678C-4686-B99B-4903FE1A5385}" type="presOf" srcId="{D4B59FE6-15B1-4A79-BF8A-9574AB8C3114}" destId="{2D2C3492-3969-4CA0-A0B0-A267D431C518}" srcOrd="1" destOrd="0" presId="urn:microsoft.com/office/officeart/2016/7/layout/RepeatingBendingProcessNew"/>
    <dgm:cxn modelId="{A7D3327E-38A6-4BBF-BEA8-4BB8B29184C4}" srcId="{18AC4D78-3C5A-4384-939B-56880926015B}" destId="{149EF2D8-51C6-4ACC-9CF3-A2D1ECCE6DCD}" srcOrd="3" destOrd="0" parTransId="{A4576C03-244B-4446-A375-D68C69F9810A}" sibTransId="{FF06FE45-9D21-4693-AA57-DE02A65D0B59}"/>
    <dgm:cxn modelId="{6B74E985-B597-48D4-8E18-D10789C377A8}" type="presOf" srcId="{592B4627-4FB5-45D2-8A27-C3F2E7AF381C}" destId="{903F5F74-2D34-4799-A97F-A8D78FB1E067}" srcOrd="1" destOrd="0" presId="urn:microsoft.com/office/officeart/2016/7/layout/RepeatingBendingProcessNew"/>
    <dgm:cxn modelId="{32725D90-F937-42DF-BBB7-E2EA1A036C87}" srcId="{18AC4D78-3C5A-4384-939B-56880926015B}" destId="{1FD0CDA9-6A42-46B8-A74E-B0AE5838B310}" srcOrd="5" destOrd="0" parTransId="{F741BC7F-A2A6-4960-8BF7-2640718900D5}" sibTransId="{335E1230-D97C-4345-89E9-EA25A08BCCE2}"/>
    <dgm:cxn modelId="{CA90A09A-84AF-4C70-A837-9545A318FFF4}" type="presOf" srcId="{82072DFE-7168-4C6D-979F-FC008E04A9ED}" destId="{D7D5A023-A755-4560-91E1-66D08C4CD90C}" srcOrd="1" destOrd="0" presId="urn:microsoft.com/office/officeart/2016/7/layout/RepeatingBendingProcessNew"/>
    <dgm:cxn modelId="{7A96C5A1-155F-477E-BC4E-F0AF7A61892D}" type="presOf" srcId="{149EF2D8-51C6-4ACC-9CF3-A2D1ECCE6DCD}" destId="{E60096AC-A58D-48EE-8583-9676D59A7E67}" srcOrd="0" destOrd="0" presId="urn:microsoft.com/office/officeart/2016/7/layout/RepeatingBendingProcessNew"/>
    <dgm:cxn modelId="{8338D9AB-F582-4E48-9124-C5AB596DA7EF}" type="presOf" srcId="{82072DFE-7168-4C6D-979F-FC008E04A9ED}" destId="{8ED031FF-50DD-4B3C-B6AF-0CA872EE8439}" srcOrd="0" destOrd="0" presId="urn:microsoft.com/office/officeart/2016/7/layout/RepeatingBendingProcessNew"/>
    <dgm:cxn modelId="{F96E5BB7-FA83-4A74-BEC7-28618AF7C0A4}" type="presOf" srcId="{18AC4D78-3C5A-4384-939B-56880926015B}" destId="{5D131707-82E1-4770-A6DC-AB283580E0AD}" srcOrd="0" destOrd="0" presId="urn:microsoft.com/office/officeart/2016/7/layout/RepeatingBendingProcessNew"/>
    <dgm:cxn modelId="{050696C1-85D1-44C4-9F5C-A751F14F1A1B}" type="presOf" srcId="{5EF43509-5612-4782-BF90-4848264B5FC5}" destId="{DCFA8C70-0513-430E-B131-AA8821EC96BC}" srcOrd="0" destOrd="0" presId="urn:microsoft.com/office/officeart/2016/7/layout/RepeatingBendingProcessNew"/>
    <dgm:cxn modelId="{5E53D3CF-E66E-4E64-A6CF-45205FEFB160}" srcId="{18AC4D78-3C5A-4384-939B-56880926015B}" destId="{5EF43509-5612-4782-BF90-4848264B5FC5}" srcOrd="1" destOrd="0" parTransId="{2DC7F5E8-2AA1-44CB-80BB-3698C87CBE01}" sibTransId="{82072DFE-7168-4C6D-979F-FC008E04A9ED}"/>
    <dgm:cxn modelId="{990972EB-2B7A-42C4-A5C4-20BAE058D5BF}" type="presOf" srcId="{B1F965CB-4DDE-4544-A62D-20702C2EAC4F}" destId="{020FD3E1-2B8B-40C8-A209-283AFC1BFA64}" srcOrd="0" destOrd="0" presId="urn:microsoft.com/office/officeart/2016/7/layout/RepeatingBendingProcessNew"/>
    <dgm:cxn modelId="{0F7F7DF1-EB9D-4C28-B605-B39C1990E3C3}" type="presOf" srcId="{592B4627-4FB5-45D2-8A27-C3F2E7AF381C}" destId="{CD343EB1-1F44-496B-9D42-773E8792958C}" srcOrd="0" destOrd="0" presId="urn:microsoft.com/office/officeart/2016/7/layout/RepeatingBendingProcessNew"/>
    <dgm:cxn modelId="{F9AF4CFF-B324-4400-B512-E94CA971A98C}" type="presOf" srcId="{05AB3421-D66D-4C9F-93F4-78947FE21964}" destId="{C73F9D3F-E647-4FB7-AF6E-DB44441AC75D}" srcOrd="0" destOrd="0" presId="urn:microsoft.com/office/officeart/2016/7/layout/RepeatingBendingProcessNew"/>
    <dgm:cxn modelId="{9518866D-84BA-4C3A-91D3-765D9A250D46}" type="presParOf" srcId="{5D131707-82E1-4770-A6DC-AB283580E0AD}" destId="{C73F9D3F-E647-4FB7-AF6E-DB44441AC75D}" srcOrd="0" destOrd="0" presId="urn:microsoft.com/office/officeart/2016/7/layout/RepeatingBendingProcessNew"/>
    <dgm:cxn modelId="{C9C91E67-D85B-4C85-9055-7EA51C7DBB11}" type="presParOf" srcId="{5D131707-82E1-4770-A6DC-AB283580E0AD}" destId="{CD343EB1-1F44-496B-9D42-773E8792958C}" srcOrd="1" destOrd="0" presId="urn:microsoft.com/office/officeart/2016/7/layout/RepeatingBendingProcessNew"/>
    <dgm:cxn modelId="{C1A1E1B9-C7D2-4D01-BD6C-571C0F8441C8}" type="presParOf" srcId="{CD343EB1-1F44-496B-9D42-773E8792958C}" destId="{903F5F74-2D34-4799-A97F-A8D78FB1E067}" srcOrd="0" destOrd="0" presId="urn:microsoft.com/office/officeart/2016/7/layout/RepeatingBendingProcessNew"/>
    <dgm:cxn modelId="{398AA95B-DFBF-46E7-B47B-2572DA5C0696}" type="presParOf" srcId="{5D131707-82E1-4770-A6DC-AB283580E0AD}" destId="{DCFA8C70-0513-430E-B131-AA8821EC96BC}" srcOrd="2" destOrd="0" presId="urn:microsoft.com/office/officeart/2016/7/layout/RepeatingBendingProcessNew"/>
    <dgm:cxn modelId="{55300123-8A7D-4351-8321-879BE593568B}" type="presParOf" srcId="{5D131707-82E1-4770-A6DC-AB283580E0AD}" destId="{8ED031FF-50DD-4B3C-B6AF-0CA872EE8439}" srcOrd="3" destOrd="0" presId="urn:microsoft.com/office/officeart/2016/7/layout/RepeatingBendingProcessNew"/>
    <dgm:cxn modelId="{C3A22901-0523-4523-9934-6E19D1D0DC4D}" type="presParOf" srcId="{8ED031FF-50DD-4B3C-B6AF-0CA872EE8439}" destId="{D7D5A023-A755-4560-91E1-66D08C4CD90C}" srcOrd="0" destOrd="0" presId="urn:microsoft.com/office/officeart/2016/7/layout/RepeatingBendingProcessNew"/>
    <dgm:cxn modelId="{D95ECD55-857B-478A-9BEF-26C71FDE5A0A}" type="presParOf" srcId="{5D131707-82E1-4770-A6DC-AB283580E0AD}" destId="{F034892F-411B-4E7D-9B2D-4FC920C6C0C9}" srcOrd="4" destOrd="0" presId="urn:microsoft.com/office/officeart/2016/7/layout/RepeatingBendingProcessNew"/>
    <dgm:cxn modelId="{28A4B748-E771-4EC4-8FFC-57484024C854}" type="presParOf" srcId="{5D131707-82E1-4770-A6DC-AB283580E0AD}" destId="{020FD3E1-2B8B-40C8-A209-283AFC1BFA64}" srcOrd="5" destOrd="0" presId="urn:microsoft.com/office/officeart/2016/7/layout/RepeatingBendingProcessNew"/>
    <dgm:cxn modelId="{0FDC322E-EF14-4804-822A-8FA000022F2A}" type="presParOf" srcId="{020FD3E1-2B8B-40C8-A209-283AFC1BFA64}" destId="{E0FA3CA9-42EE-4739-B25B-19AF444CE2CB}" srcOrd="0" destOrd="0" presId="urn:microsoft.com/office/officeart/2016/7/layout/RepeatingBendingProcessNew"/>
    <dgm:cxn modelId="{04E0FC7B-B4B7-44CA-9003-C6C3F9863E56}" type="presParOf" srcId="{5D131707-82E1-4770-A6DC-AB283580E0AD}" destId="{E60096AC-A58D-48EE-8583-9676D59A7E67}" srcOrd="6" destOrd="0" presId="urn:microsoft.com/office/officeart/2016/7/layout/RepeatingBendingProcessNew"/>
    <dgm:cxn modelId="{8E8E9B78-A92D-4CF5-A4D8-21E9CB965B41}" type="presParOf" srcId="{5D131707-82E1-4770-A6DC-AB283580E0AD}" destId="{B2D66E56-69A8-414B-BBA8-0C6E295516A6}" srcOrd="7" destOrd="0" presId="urn:microsoft.com/office/officeart/2016/7/layout/RepeatingBendingProcessNew"/>
    <dgm:cxn modelId="{8AC4B4AD-40B2-43FE-A7C0-481C37B726DE}" type="presParOf" srcId="{B2D66E56-69A8-414B-BBA8-0C6E295516A6}" destId="{14DE22ED-1323-4B20-AF76-93402C55EB62}" srcOrd="0" destOrd="0" presId="urn:microsoft.com/office/officeart/2016/7/layout/RepeatingBendingProcessNew"/>
    <dgm:cxn modelId="{CB89D42F-06BF-4B06-9D55-1ED7992867D3}" type="presParOf" srcId="{5D131707-82E1-4770-A6DC-AB283580E0AD}" destId="{F2C0FD71-54CE-4E74-932D-A454DDB14837}" srcOrd="8" destOrd="0" presId="urn:microsoft.com/office/officeart/2016/7/layout/RepeatingBendingProcessNew"/>
    <dgm:cxn modelId="{B26D49CB-67E5-408C-9482-FF7F656B7CE1}" type="presParOf" srcId="{5D131707-82E1-4770-A6DC-AB283580E0AD}" destId="{A56A0031-C5B8-4A6D-B575-16236F1C8CFC}" srcOrd="9" destOrd="0" presId="urn:microsoft.com/office/officeart/2016/7/layout/RepeatingBendingProcessNew"/>
    <dgm:cxn modelId="{65295650-7FFD-4E6D-8963-7476E5DC883D}" type="presParOf" srcId="{A56A0031-C5B8-4A6D-B575-16236F1C8CFC}" destId="{2D2C3492-3969-4CA0-A0B0-A267D431C518}" srcOrd="0" destOrd="0" presId="urn:microsoft.com/office/officeart/2016/7/layout/RepeatingBendingProcessNew"/>
    <dgm:cxn modelId="{B494913D-17D7-4088-A80E-F0C543EB77C8}" type="presParOf" srcId="{5D131707-82E1-4770-A6DC-AB283580E0AD}" destId="{D65FFBBB-74A5-46E8-A7A4-12C8FB72C38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43EB1-1F44-496B-9D42-773E8792958C}">
      <dsp:nvSpPr>
        <dsp:cNvPr id="0" name=""/>
        <dsp:cNvSpPr/>
      </dsp:nvSpPr>
      <dsp:spPr>
        <a:xfrm>
          <a:off x="2292385" y="1243490"/>
          <a:ext cx="495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664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7060" y="1286578"/>
        <a:ext cx="26313" cy="5262"/>
      </dsp:txXfrm>
    </dsp:sp>
    <dsp:sp modelId="{C73F9D3F-E647-4FB7-AF6E-DB44441AC75D}">
      <dsp:nvSpPr>
        <dsp:cNvPr id="0" name=""/>
        <dsp:cNvSpPr/>
      </dsp:nvSpPr>
      <dsp:spPr>
        <a:xfrm>
          <a:off x="6078" y="602778"/>
          <a:ext cx="2288106" cy="1372864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119" tIns="117689" rIns="112119" bIns="11768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b="1" kern="1200" dirty="0"/>
            <a:t>Schemat ataku przez </a:t>
          </a:r>
          <a:r>
            <a:rPr lang="pl-PL" sz="1800" b="1" kern="1200" dirty="0" err="1"/>
            <a:t>upload</a:t>
          </a:r>
          <a:r>
            <a:rPr lang="pl-PL" sz="1800" b="1" kern="1200" dirty="0"/>
            <a:t>:</a:t>
          </a:r>
          <a:endParaRPr lang="en-US" sz="1800" kern="1200" dirty="0"/>
        </a:p>
      </dsp:txBody>
      <dsp:txXfrm>
        <a:off x="6078" y="602778"/>
        <a:ext cx="2288106" cy="1372864"/>
      </dsp:txXfrm>
    </dsp:sp>
    <dsp:sp modelId="{8ED031FF-50DD-4B3C-B6AF-0CA872EE8439}">
      <dsp:nvSpPr>
        <dsp:cNvPr id="0" name=""/>
        <dsp:cNvSpPr/>
      </dsp:nvSpPr>
      <dsp:spPr>
        <a:xfrm>
          <a:off x="5106756" y="1243490"/>
          <a:ext cx="495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664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41432" y="1286578"/>
        <a:ext cx="26313" cy="5262"/>
      </dsp:txXfrm>
    </dsp:sp>
    <dsp:sp modelId="{DCFA8C70-0513-430E-B131-AA8821EC96BC}">
      <dsp:nvSpPr>
        <dsp:cNvPr id="0" name=""/>
        <dsp:cNvSpPr/>
      </dsp:nvSpPr>
      <dsp:spPr>
        <a:xfrm>
          <a:off x="2820449" y="602778"/>
          <a:ext cx="2288106" cy="1372864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119" tIns="117689" rIns="112119" bIns="11768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1. </a:t>
          </a:r>
          <a:r>
            <a:rPr lang="pl-PL" sz="1800" b="1" kern="1200" dirty="0"/>
            <a:t>Atakujący:</a:t>
          </a:r>
          <a:r>
            <a:rPr lang="pl-PL" sz="1800" kern="1200" dirty="0"/>
            <a:t> wysyła „foto.php.jpg" z fałszywym Content-</a:t>
          </a:r>
          <a:r>
            <a:rPr lang="pl-PL" sz="1800" kern="1200" dirty="0" err="1"/>
            <a:t>Type</a:t>
          </a:r>
          <a:r>
            <a:rPr lang="pl-PL" sz="1800" kern="1200" dirty="0"/>
            <a:t>.</a:t>
          </a:r>
          <a:endParaRPr lang="en-US" sz="1800" kern="1200" dirty="0"/>
        </a:p>
      </dsp:txBody>
      <dsp:txXfrm>
        <a:off x="2820449" y="602778"/>
        <a:ext cx="2288106" cy="1372864"/>
      </dsp:txXfrm>
    </dsp:sp>
    <dsp:sp modelId="{020FD3E1-2B8B-40C8-A209-283AFC1BFA64}">
      <dsp:nvSpPr>
        <dsp:cNvPr id="0" name=""/>
        <dsp:cNvSpPr/>
      </dsp:nvSpPr>
      <dsp:spPr>
        <a:xfrm>
          <a:off x="1150131" y="1973842"/>
          <a:ext cx="5628742" cy="495664"/>
        </a:xfrm>
        <a:custGeom>
          <a:avLst/>
          <a:gdLst/>
          <a:ahLst/>
          <a:cxnLst/>
          <a:rect l="0" t="0" r="0" b="0"/>
          <a:pathLst>
            <a:path>
              <a:moveTo>
                <a:pt x="5628742" y="0"/>
              </a:moveTo>
              <a:lnTo>
                <a:pt x="5628742" y="264932"/>
              </a:lnTo>
              <a:lnTo>
                <a:pt x="0" y="264932"/>
              </a:lnTo>
              <a:lnTo>
                <a:pt x="0" y="495664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3170" y="2219043"/>
        <a:ext cx="282664" cy="5262"/>
      </dsp:txXfrm>
    </dsp:sp>
    <dsp:sp modelId="{F034892F-411B-4E7D-9B2D-4FC920C6C0C9}">
      <dsp:nvSpPr>
        <dsp:cNvPr id="0" name=""/>
        <dsp:cNvSpPr/>
      </dsp:nvSpPr>
      <dsp:spPr>
        <a:xfrm>
          <a:off x="5634820" y="602778"/>
          <a:ext cx="2288106" cy="1372864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119" tIns="117689" rIns="112119" bIns="11768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2. </a:t>
          </a:r>
          <a:r>
            <a:rPr lang="pl-PL" sz="1800" b="1" kern="1200"/>
            <a:t>Serwis:</a:t>
          </a:r>
          <a:r>
            <a:rPr lang="pl-PL" sz="1800" kern="1200"/>
            <a:t> sprawdza tylko rozszerzenie lub nagłówek.</a:t>
          </a:r>
          <a:endParaRPr lang="en-US" sz="1800" kern="1200"/>
        </a:p>
      </dsp:txBody>
      <dsp:txXfrm>
        <a:off x="5634820" y="602778"/>
        <a:ext cx="2288106" cy="1372864"/>
      </dsp:txXfrm>
    </dsp:sp>
    <dsp:sp modelId="{B2D66E56-69A8-414B-BBA8-0C6E295516A6}">
      <dsp:nvSpPr>
        <dsp:cNvPr id="0" name=""/>
        <dsp:cNvSpPr/>
      </dsp:nvSpPr>
      <dsp:spPr>
        <a:xfrm>
          <a:off x="2292385" y="3142618"/>
          <a:ext cx="495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664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7060" y="3185707"/>
        <a:ext cx="26313" cy="5262"/>
      </dsp:txXfrm>
    </dsp:sp>
    <dsp:sp modelId="{E60096AC-A58D-48EE-8583-9676D59A7E67}">
      <dsp:nvSpPr>
        <dsp:cNvPr id="0" name=""/>
        <dsp:cNvSpPr/>
      </dsp:nvSpPr>
      <dsp:spPr>
        <a:xfrm>
          <a:off x="6078" y="2501906"/>
          <a:ext cx="2288106" cy="1372864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119" tIns="117689" rIns="112119" bIns="11768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3. </a:t>
          </a:r>
          <a:r>
            <a:rPr lang="pl-PL" sz="1800" b="1" kern="1200"/>
            <a:t>Zapis:</a:t>
          </a:r>
          <a:r>
            <a:rPr lang="pl-PL" sz="1800" kern="1200"/>
            <a:t> plik ląduje w katalogu dostępnym z sieci. </a:t>
          </a:r>
          <a:endParaRPr lang="en-US" sz="1800" kern="1200"/>
        </a:p>
      </dsp:txBody>
      <dsp:txXfrm>
        <a:off x="6078" y="2501906"/>
        <a:ext cx="2288106" cy="1372864"/>
      </dsp:txXfrm>
    </dsp:sp>
    <dsp:sp modelId="{A56A0031-C5B8-4A6D-B575-16236F1C8CFC}">
      <dsp:nvSpPr>
        <dsp:cNvPr id="0" name=""/>
        <dsp:cNvSpPr/>
      </dsp:nvSpPr>
      <dsp:spPr>
        <a:xfrm>
          <a:off x="5106756" y="3142618"/>
          <a:ext cx="495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664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41432" y="3185707"/>
        <a:ext cx="26313" cy="5262"/>
      </dsp:txXfrm>
    </dsp:sp>
    <dsp:sp modelId="{F2C0FD71-54CE-4E74-932D-A454DDB14837}">
      <dsp:nvSpPr>
        <dsp:cNvPr id="0" name=""/>
        <dsp:cNvSpPr/>
      </dsp:nvSpPr>
      <dsp:spPr>
        <a:xfrm>
          <a:off x="2820449" y="2501906"/>
          <a:ext cx="2288106" cy="1372864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119" tIns="117689" rIns="112119" bIns="11768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4. </a:t>
          </a:r>
          <a:r>
            <a:rPr lang="pl-PL" sz="1800" b="1" kern="1200"/>
            <a:t>Wywołanie:</a:t>
          </a:r>
          <a:r>
            <a:rPr lang="pl-PL" sz="1800" kern="1200"/>
            <a:t> atakujący otwiera adres pliku w przeglądarce. </a:t>
          </a:r>
          <a:endParaRPr lang="en-US" sz="1800" kern="1200"/>
        </a:p>
      </dsp:txBody>
      <dsp:txXfrm>
        <a:off x="2820449" y="2501906"/>
        <a:ext cx="2288106" cy="1372864"/>
      </dsp:txXfrm>
    </dsp:sp>
    <dsp:sp modelId="{D65FFBBB-74A5-46E8-A7A4-12C8FB72C382}">
      <dsp:nvSpPr>
        <dsp:cNvPr id="0" name=""/>
        <dsp:cNvSpPr/>
      </dsp:nvSpPr>
      <dsp:spPr>
        <a:xfrm>
          <a:off x="5634820" y="2501906"/>
          <a:ext cx="2288106" cy="1372864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solidFill>
            <a:schemeClr val="tx1">
              <a:lumMod val="65000"/>
              <a:lumOff val="35000"/>
            </a:schemeClr>
          </a:solidFill>
        </a:ln>
        <a:effectLst>
          <a:outerShdw blurRad="152400" dist="317500" dir="5400000" sx="90000" sy="-19000" rotWithShape="0">
            <a:prstClr val="black">
              <a:alpha val="15000"/>
            </a:prstClr>
          </a:outerShdw>
        </a:effectLst>
        <a:scene3d>
          <a:camera prst="orthographicFront"/>
          <a:lightRig rig="threePt" dir="t"/>
        </a:scene3d>
        <a:sp3d>
          <a:bevelT w="114300" prst="artDeco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119" tIns="117689" rIns="112119" bIns="11768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5.</a:t>
          </a:r>
          <a:r>
            <a:rPr lang="pl-PL" sz="1800" b="1" kern="1200" dirty="0"/>
            <a:t> Skutek:</a:t>
          </a:r>
          <a:r>
            <a:rPr lang="pl-PL" sz="1800" kern="1200" dirty="0"/>
            <a:t> serwer wykonuje kod → RCE.</a:t>
          </a:r>
          <a:endParaRPr lang="en-US" sz="1800" kern="1200" dirty="0"/>
        </a:p>
      </dsp:txBody>
      <dsp:txXfrm>
        <a:off x="5634820" y="2501906"/>
        <a:ext cx="2288106" cy="1372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14E7C8-D655-CB54-F589-C28FDB418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EACA8BC-EA8E-8275-A651-9B93DC1EA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09F1C21-A4EA-2D2E-40DC-08A86E6B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9A31284-2213-7CD5-616C-C2876723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A61E64B-27F0-C3F1-C759-0E915EFF4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48E1E7-A4C7-3396-E26A-B3581989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607519F-BE11-FBFE-3DE7-F8DD84DE0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13350B6-CF35-CB2B-8F5A-41BA13FF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3DB469C-9975-6D6F-77B7-BE87F03A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28B0003-507F-5902-2FFD-B6188259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8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E4E4CB-7DF0-5946-BCD4-4ACD34F2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2382101-2F5C-C288-0091-BCAD77743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CDC5596-59A6-98FC-78B9-51226763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443EEE8-1422-EFB1-565D-5A8833FDB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1A4BC38-613B-C357-6C43-6D247E9BA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1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DC315D-B6A0-4D33-FBD2-7FBA6C3E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37FD4C-1A92-0FA0-098B-A452C409A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3F3359E-317F-AD62-7616-96258D109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5DE5BC2-5801-E2A7-0CF9-930A92C3A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3B011E1-0EA8-F0F9-9B06-B4206A80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428161-7FE2-AAA3-7521-2F80FE37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5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EB0A2B-6634-83B0-1258-CFFB576EA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3411875-D548-A9CF-BED1-31BEB8CF5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7C25581-2F57-3BB7-C1D8-C41B4555A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828BFA4-494A-2EC7-F88A-09DDB21A0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6D3638A-EA73-266E-0779-CA2101CBE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8DBBA41-794F-A804-D138-43CCC87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03A68531-F629-A74B-52F6-52F522D0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EF78951-8CA8-5A19-F48D-C7EABD0E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69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B5B9F8-53D3-84A0-17C7-1CD2C77AB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BCD1F36-E48C-3FD2-1533-34268798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10FDE36-2360-4066-C4CD-D303CB38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EACA600-AD33-E4DC-DA22-2D6BCD26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5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FADDE30-1F2A-6C5F-ACDA-9FB39C9E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2BA0387-EB0C-87EC-58AD-17D719357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C4A95EE-E22E-6028-A06C-F3B1B2ED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75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EB3349-1CE8-92B9-AF69-F51F4A4B9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5791C2-C62F-E336-EF80-94A58F369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7B52503-3CF7-964D-235B-2A4C01801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2BB4D8E-1F43-AA83-98C5-F296160F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4E4AA31-AAC0-ECB7-5DBF-5F666154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EBD3928-F68E-7208-E9F4-27F3C24F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BF4F6D-3BAB-B720-B2A5-B70E976E6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C63B0FC-0370-C032-9DE6-64F4D0DBB3A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AAB8D77-1D26-45AD-26E4-9D400EFCD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3FFA0D-B078-B54D-A36B-B3F8BE908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63F0BB6-0E15-C3B4-E836-D303AAAE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8143F58-C522-2A27-A9FB-5206A8A8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87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CF200F-2343-B9DD-BBDB-A6A8ABD0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096D34A-2AC1-6E33-2B89-60D607076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2136E8-8AB2-F4B7-529B-6A35A019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A316C44-A57A-8812-3EF6-EBAD7AE4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ED2B65-5455-680A-DD8B-E577336F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2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E764D8F-00B7-F623-E00F-87C6C20E2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E68092A-1CE5-B9B8-BF82-EC177E0F5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D49CA6A-A748-AA24-806D-4A3A1415A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ECE388D-5CB6-A33C-BADF-3BE92DD7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B07C102-B7D0-6A37-1A05-642B4EF8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71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423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9577682-22C1-852F-4DAF-9A895ADE7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A4FB097-4B53-646B-BB34-71D0179D9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ABD6235-D65E-0E32-C312-B55D08E44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0A05FF6-741E-B227-F17A-B44769508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86826D8-2814-0EA4-74E0-A7A81FA26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6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761458"/>
            <a:ext cx="109728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761458"/>
            <a:ext cx="38100" cy="4953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1601241"/>
            <a:ext cx="486787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</a:rPr>
              <a:t>BEZPIECZEŃSTWO APLIKACJI INTERNETOWYCH I MOBILNYCH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029866"/>
            <a:ext cx="10101262" cy="1359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 dirty="0" err="1">
                <a:solidFill>
                  <a:srgbClr val="FFFFFF"/>
                </a:solidFill>
              </a:rPr>
              <a:t>Podejrzane</a:t>
            </a:r>
            <a:r>
              <a:rPr sz="4800" b="1" i="0" u="none" dirty="0">
                <a:solidFill>
                  <a:srgbClr val="FFFFFF"/>
                </a:solidFill>
              </a:rPr>
              <a:t> </a:t>
            </a:r>
            <a:r>
              <a:rPr sz="4800" b="1" i="0" u="none" dirty="0" err="1">
                <a:solidFill>
                  <a:srgbClr val="FFFFFF"/>
                </a:solidFill>
              </a:rPr>
              <a:t>pliki</a:t>
            </a:r>
            <a:r>
              <a:rPr sz="4800" b="1" i="0" u="none" dirty="0">
                <a:solidFill>
                  <a:srgbClr val="FFFFFF"/>
                </a:solidFill>
              </a:rPr>
              <a:t> </a:t>
            </a:r>
            <a:r>
              <a:rPr sz="4800" b="1" i="0" u="none" dirty="0" err="1">
                <a:solidFill>
                  <a:srgbClr val="FFFFFF"/>
                </a:solidFill>
              </a:rPr>
              <a:t>kontra</a:t>
            </a:r>
            <a:r>
              <a:rPr sz="4800" b="1" i="0" u="none" dirty="0">
                <a:solidFill>
                  <a:srgbClr val="FFFFFF"/>
                </a:solidFill>
              </a:rPr>
              <a:t> </a:t>
            </a:r>
            <a:r>
              <a:rPr sz="4800" b="1" i="0" u="none" dirty="0" err="1">
                <a:solidFill>
                  <a:srgbClr val="FFFFFF"/>
                </a:solidFill>
              </a:rPr>
              <a:t>serwis</a:t>
            </a:r>
            <a:r>
              <a:rPr sz="4800" b="1" i="0" u="none" dirty="0">
                <a:solidFill>
                  <a:srgbClr val="FFFFFF"/>
                </a:solidFill>
              </a:rPr>
              <a:t> do </a:t>
            </a:r>
            <a:r>
              <a:rPr sz="4800" b="1" i="0" u="none" dirty="0" err="1">
                <a:solidFill>
                  <a:srgbClr val="FFFFFF"/>
                </a:solidFill>
              </a:rPr>
              <a:t>przesyłania</a:t>
            </a:r>
            <a:r>
              <a:rPr sz="4800" b="1" i="0" u="none" dirty="0">
                <a:solidFill>
                  <a:srgbClr val="FFFFFF"/>
                </a:solidFill>
              </a:rPr>
              <a:t> </a:t>
            </a:r>
            <a:r>
              <a:rPr sz="4800" b="1" i="0" u="none" dirty="0" err="1">
                <a:solidFill>
                  <a:srgbClr val="FFFFFF"/>
                </a:solidFill>
              </a:rPr>
              <a:t>danych</a:t>
            </a:r>
            <a:endParaRPr sz="4800" b="1" i="0" u="none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3599408"/>
            <a:ext cx="77152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94A3B8"/>
                </a:solidFill>
              </a:rPr>
              <a:t>Zagrożenia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związane</a:t>
            </a:r>
            <a:r>
              <a:rPr sz="1800" b="0" i="0" u="none" dirty="0">
                <a:solidFill>
                  <a:srgbClr val="94A3B8"/>
                </a:solidFill>
              </a:rPr>
              <a:t> z </a:t>
            </a:r>
            <a:r>
              <a:rPr sz="1800" b="0" i="0" u="none" dirty="0" err="1">
                <a:solidFill>
                  <a:srgbClr val="94A3B8"/>
                </a:solidFill>
              </a:rPr>
              <a:t>uploadem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plików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i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architektura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warstwowej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obrony</a:t>
            </a:r>
            <a:r>
              <a:rPr sz="1800" b="0" i="0" u="none" dirty="0">
                <a:solidFill>
                  <a:srgbClr val="94A3B8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761458"/>
            <a:ext cx="74065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CBD5E1"/>
                </a:solidFill>
              </a:rPr>
              <a:t>Prelegenci</a:t>
            </a:r>
            <a:r>
              <a:rPr sz="1200" b="0" i="0" u="none" dirty="0">
                <a:solidFill>
                  <a:srgbClr val="CBD5E1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028158"/>
            <a:ext cx="286379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</a:rPr>
              <a:t>Michał Sałapat, Wojciech Pietras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28862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186112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43362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900612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280628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</a:rPr>
              <a:t>Plan </a:t>
            </a:r>
            <a:r>
              <a:rPr sz="3000" b="1" i="0" u="none" dirty="0" err="1">
                <a:solidFill>
                  <a:srgbClr val="0F172A"/>
                </a:solidFill>
              </a:rPr>
              <a:t>prezentacji</a:t>
            </a:r>
            <a:endParaRPr sz="3000" b="1" i="0" u="none" dirty="0">
              <a:solidFill>
                <a:srgbClr val="0F172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6725" y="2442046"/>
            <a:ext cx="7429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3299296"/>
            <a:ext cx="7429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4156546"/>
            <a:ext cx="7429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5013796"/>
            <a:ext cx="7429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2328862"/>
            <a:ext cx="271407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F172A"/>
                </a:solidFill>
              </a:rPr>
              <a:t>Czym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są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podejrzane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pliki</a:t>
            </a:r>
            <a:r>
              <a:rPr sz="1800" b="1" i="0" u="none" dirty="0">
                <a:solidFill>
                  <a:srgbClr val="0F172A"/>
                </a:solidFill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399" y="2681287"/>
            <a:ext cx="297671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</a:rPr>
              <a:t>Wektory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ataku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poprzez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funkcje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uploadu</a:t>
            </a:r>
            <a:r>
              <a:rPr sz="1350" b="0" i="0" u="none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3186112"/>
            <a:ext cx="339791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F172A"/>
                </a:solidFill>
              </a:rPr>
              <a:t>Bezpieczna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architektura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serwisu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95400" y="3538537"/>
            <a:ext cx="276011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</a:rPr>
              <a:t>Obrona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warstwowa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i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izolacja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danych</a:t>
            </a:r>
            <a:r>
              <a:rPr sz="1350" b="0" i="0" u="none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043362"/>
            <a:ext cx="288187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F172A"/>
                </a:solidFill>
              </a:rPr>
              <a:t>Aspekt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urządzeń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mobilnych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95400" y="4395787"/>
            <a:ext cx="272331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</a:rPr>
              <a:t>Specyfika</a:t>
            </a:r>
            <a:r>
              <a:rPr sz="1350" b="0" i="0" u="none" dirty="0">
                <a:solidFill>
                  <a:srgbClr val="475569"/>
                </a:solidFill>
              </a:rPr>
              <a:t> platform Android </a:t>
            </a:r>
            <a:r>
              <a:rPr sz="1350" b="0" i="0" u="none" dirty="0" err="1">
                <a:solidFill>
                  <a:srgbClr val="475569"/>
                </a:solidFill>
              </a:rPr>
              <a:t>oraz</a:t>
            </a:r>
            <a:r>
              <a:rPr sz="1350" b="0" i="0" u="none" dirty="0">
                <a:solidFill>
                  <a:srgbClr val="475569"/>
                </a:solidFill>
              </a:rPr>
              <a:t> iOS.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4900612"/>
            <a:ext cx="29024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F172A"/>
                </a:solidFill>
              </a:rPr>
              <a:t>Checklista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i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podsumowanie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95400" y="5253037"/>
            <a:ext cx="228703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</a:rPr>
              <a:t>Praktyczne kroki do wdrożenia.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66975"/>
            <a:ext cx="3460700" cy="2847975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75100" y="2595562"/>
            <a:ext cx="34607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40600" y="2605087"/>
            <a:ext cx="3441650" cy="2571750"/>
          </a:xfrm>
          <a:prstGeom prst="roundRect">
            <a:avLst>
              <a:gd name="adj" fmla="val 592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857500"/>
            <a:ext cx="42862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625" y="298608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600" y="2986087"/>
            <a:ext cx="33337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649280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Aptos" panose="020B0004020202020204" pitchFamily="34" charset="0"/>
              </a:rPr>
              <a:t>Dlaczego upload to krytyczne ryzyko?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467100"/>
            <a:ext cx="154914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Aptos" panose="020B0004020202020204" pitchFamily="34" charset="0"/>
              </a:rPr>
              <a:t>Nieznane bajty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895725"/>
            <a:ext cx="27749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Aptos" panose="020B0004020202020204" pitchFamily="34" charset="0"/>
              </a:rPr>
              <a:t>Jedyne miejsce w aplikacji przyjmujące od użytkownika nieustrukturyzowane binarne paczki danych.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5625" y="3595687"/>
            <a:ext cx="22616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Aptos" panose="020B0004020202020204" pitchFamily="34" charset="0"/>
              </a:rPr>
              <a:t>Groźne przetwarzanie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5625" y="4024312"/>
            <a:ext cx="27749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Aptos" panose="020B0004020202020204" pitchFamily="34" charset="0"/>
              </a:rPr>
              <a:t>Konwersje, miniaturyzacja i parsery graficzne generują kolejne płaszczyzny ataku.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1600" y="3595687"/>
            <a:ext cx="172092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Aptos" panose="020B0004020202020204" pitchFamily="34" charset="0"/>
              </a:rPr>
              <a:t>Krytyczne skutki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1600" y="4024312"/>
            <a:ext cx="2774900" cy="496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Aptos" panose="020B0004020202020204" pitchFamily="34" charset="0"/>
              </a:rPr>
              <a:t>Prowadzi bezpośrednio do RCE, DoS, XSS oraz hostowania malware.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4821" y="2462212"/>
            <a:ext cx="5266878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0300" y="2462212"/>
            <a:ext cx="5266878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4821" y="4005262"/>
            <a:ext cx="5266878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0300" y="4005262"/>
            <a:ext cx="5266878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4821" y="2462212"/>
            <a:ext cx="38100" cy="13144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0300" y="2462212"/>
            <a:ext cx="38100" cy="131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4821" y="4005262"/>
            <a:ext cx="38100" cy="131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4005262"/>
            <a:ext cx="38100" cy="13144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5590889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</a:rPr>
              <a:t>Anatomia złośliwych payloadów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721" y="2767012"/>
            <a:ext cx="151105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Webshell skrypty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721" y="3071812"/>
            <a:ext cx="471442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</a:rPr>
              <a:t>Rozszerzenia PHP lub JSP pozwalające na zdalne wykonanie kodu.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767012"/>
            <a:ext cx="168629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Zatrute SVG / 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071812"/>
            <a:ext cx="471442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</a:rPr>
              <a:t>Osadzony złośliwy JavaScript uruchamiający ataki XSS w przeglądarce.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721" y="4310062"/>
            <a:ext cx="112646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Pliki Polyglot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721" y="4614862"/>
            <a:ext cx="471442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</a:rPr>
              <a:t>Prawidłowy obraz ukrywający szkodliwy kod w metadanych EXIF.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4310062"/>
            <a:ext cx="219271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Bomby kompresyjne (Zip)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4614862"/>
            <a:ext cx="471442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</a:rPr>
              <a:t>Spreparowane archiwa wyczerpujące zasoby i wywołujące awarię (DoS).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9A056CC8-83BF-0824-A2B5-08583DC02337}"/>
              </a:ext>
            </a:extLst>
          </p:cNvPr>
          <p:cNvSpPr txBox="1"/>
          <p:nvPr/>
        </p:nvSpPr>
        <p:spPr>
          <a:xfrm>
            <a:off x="1805803" y="5414408"/>
            <a:ext cx="7391400" cy="1207008"/>
          </a:xfrm>
          <a:prstGeom prst="rect">
            <a:avLst/>
          </a:prstGeom>
          <a:solidFill>
            <a:schemeClr val="bg1"/>
          </a:solidFill>
        </p:spPr>
        <p:txBody>
          <a:bodyPr vert="horz" lIns="137160" tIns="137160" rIns="91440" bIns="9144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kern="1200" cap="all" baseline="0" dirty="0" err="1">
                <a:ea typeface="+mj-ea"/>
                <a:cs typeface="+mj-cs"/>
              </a:rPr>
              <a:t>Gdzie</a:t>
            </a:r>
            <a:r>
              <a:rPr lang="en-US" sz="2000" b="1" kern="1200" cap="all" baseline="0" dirty="0">
                <a:ea typeface="+mj-ea"/>
                <a:cs typeface="+mj-cs"/>
              </a:rPr>
              <a:t> jest </a:t>
            </a:r>
            <a:r>
              <a:rPr lang="en-US" sz="2000" b="1" kern="1200" cap="all" baseline="0" dirty="0" err="1">
                <a:ea typeface="+mj-ea"/>
                <a:cs typeface="+mj-cs"/>
              </a:rPr>
              <a:t>błąd</a:t>
            </a:r>
            <a:r>
              <a:rPr lang="en-US" sz="2000" b="1" kern="1200" cap="all" baseline="0" dirty="0">
                <a:ea typeface="+mj-ea"/>
                <a:cs typeface="+mj-cs"/>
              </a:rPr>
              <a:t>?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endParaRPr lang="pl-PL" sz="2000" kern="1200" cap="all" baseline="0" dirty="0"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 cap="all" baseline="0" dirty="0" err="1">
                <a:ea typeface="+mj-ea"/>
                <a:cs typeface="+mj-cs"/>
              </a:rPr>
              <a:t>Walidacja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opiera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się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na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danych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kontrolowanych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przez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atakującego</a:t>
            </a:r>
            <a:r>
              <a:rPr lang="en-US" sz="2000" kern="1200" cap="all" baseline="0" dirty="0">
                <a:ea typeface="+mj-ea"/>
                <a:cs typeface="+mj-cs"/>
              </a:rPr>
              <a:t> (</a:t>
            </a:r>
            <a:r>
              <a:rPr lang="en-US" sz="2000" kern="1200" cap="all" baseline="0" dirty="0" err="1">
                <a:ea typeface="+mj-ea"/>
                <a:cs typeface="+mj-cs"/>
              </a:rPr>
              <a:t>nazwa</a:t>
            </a:r>
            <a:r>
              <a:rPr lang="en-US" sz="2000" kern="1200" cap="all" baseline="0" dirty="0">
                <a:ea typeface="+mj-ea"/>
                <a:cs typeface="+mj-cs"/>
              </a:rPr>
              <a:t>, Content-Type), a </a:t>
            </a:r>
            <a:r>
              <a:rPr lang="en-US" sz="2000" kern="1200" cap="all" baseline="0" dirty="0" err="1">
                <a:ea typeface="+mj-ea"/>
                <a:cs typeface="+mj-cs"/>
              </a:rPr>
              <a:t>plik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trafia</a:t>
            </a:r>
            <a:r>
              <a:rPr lang="en-US" sz="2000" kern="1200" cap="all" baseline="0" dirty="0">
                <a:ea typeface="+mj-ea"/>
                <a:cs typeface="+mj-cs"/>
              </a:rPr>
              <a:t> tam, </a:t>
            </a:r>
            <a:r>
              <a:rPr lang="en-US" sz="2000" kern="1200" cap="all" baseline="0" dirty="0" err="1">
                <a:ea typeface="+mj-ea"/>
                <a:cs typeface="+mj-cs"/>
              </a:rPr>
              <a:t>gdzie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serwer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potrafi</a:t>
            </a:r>
            <a:r>
              <a:rPr lang="en-US" sz="2000" kern="1200" cap="all" baseline="0" dirty="0">
                <a:ea typeface="+mj-ea"/>
                <a:cs typeface="+mj-cs"/>
              </a:rPr>
              <a:t> go </a:t>
            </a:r>
            <a:r>
              <a:rPr lang="en-US" sz="2000" kern="1200" cap="all" baseline="0" dirty="0" err="1">
                <a:ea typeface="+mj-ea"/>
                <a:cs typeface="+mj-cs"/>
              </a:rPr>
              <a:t>wykonać</a:t>
            </a:r>
            <a:r>
              <a:rPr lang="en-US" sz="2000" kern="1200" cap="all" baseline="0" dirty="0">
                <a:ea typeface="+mj-ea"/>
                <a:cs typeface="+mj-cs"/>
              </a:rPr>
              <a:t>. Ten </a:t>
            </a:r>
            <a:r>
              <a:rPr lang="en-US" sz="2000" kern="1200" cap="all" baseline="0" dirty="0" err="1">
                <a:ea typeface="+mj-ea"/>
                <a:cs typeface="+mj-cs"/>
              </a:rPr>
              <a:t>sam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schemat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działa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dla</a:t>
            </a:r>
            <a:r>
              <a:rPr lang="en-US" sz="2000" kern="1200" cap="all" baseline="0" dirty="0">
                <a:ea typeface="+mj-ea"/>
                <a:cs typeface="+mj-cs"/>
              </a:rPr>
              <a:t> SVG z </a:t>
            </a:r>
            <a:r>
              <a:rPr lang="en-US" sz="2000" kern="1200" cap="all" baseline="0" dirty="0" err="1">
                <a:ea typeface="+mj-ea"/>
                <a:cs typeface="+mj-cs"/>
              </a:rPr>
              <a:t>JavaScriptem</a:t>
            </a:r>
            <a:r>
              <a:rPr lang="en-US" sz="2000" kern="1200" cap="all" baseline="0" dirty="0">
                <a:ea typeface="+mj-ea"/>
                <a:cs typeface="+mj-cs"/>
              </a:rPr>
              <a:t> (XSS) </a:t>
            </a:r>
            <a:r>
              <a:rPr lang="en-US" sz="2000" kern="1200" cap="all" baseline="0" dirty="0" err="1">
                <a:ea typeface="+mj-ea"/>
                <a:cs typeface="+mj-cs"/>
              </a:rPr>
              <a:t>czy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archiwum</a:t>
            </a:r>
            <a:r>
              <a:rPr lang="en-US" sz="2000" kern="1200" cap="all" baseline="0" dirty="0">
                <a:ea typeface="+mj-ea"/>
                <a:cs typeface="+mj-cs"/>
              </a:rPr>
              <a:t> z </a:t>
            </a:r>
            <a:r>
              <a:rPr lang="en-US" sz="2000" kern="1200" cap="all" baseline="0" dirty="0" err="1">
                <a:ea typeface="+mj-ea"/>
                <a:cs typeface="+mj-cs"/>
              </a:rPr>
              <a:t>nazwami</a:t>
            </a:r>
            <a:r>
              <a:rPr lang="en-US" sz="2000" kern="1200" cap="all" baseline="0" dirty="0">
                <a:ea typeface="+mj-ea"/>
                <a:cs typeface="+mj-cs"/>
              </a:rPr>
              <a:t> „../" (</a:t>
            </a:r>
            <a:r>
              <a:rPr lang="en-US" sz="2000" kern="1200" cap="all" baseline="0" dirty="0" err="1">
                <a:ea typeface="+mj-ea"/>
                <a:cs typeface="+mj-cs"/>
              </a:rPr>
              <a:t>zapis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poza</a:t>
            </a:r>
            <a:r>
              <a:rPr lang="en-US" sz="2000" kern="1200" cap="all" baseline="0" dirty="0">
                <a:ea typeface="+mj-ea"/>
                <a:cs typeface="+mj-cs"/>
              </a:rPr>
              <a:t> </a:t>
            </a:r>
            <a:r>
              <a:rPr lang="en-US" sz="2000" kern="1200" cap="all" baseline="0" dirty="0" err="1">
                <a:ea typeface="+mj-ea"/>
                <a:cs typeface="+mj-cs"/>
              </a:rPr>
              <a:t>katalogiem</a:t>
            </a:r>
            <a:r>
              <a:rPr lang="en-US" sz="2000" kern="1200" cap="all" baseline="0" dirty="0">
                <a:ea typeface="+mj-ea"/>
                <a:cs typeface="+mj-cs"/>
              </a:rPr>
              <a:t>). </a:t>
            </a:r>
          </a:p>
        </p:txBody>
      </p:sp>
      <p:graphicFrame>
        <p:nvGraphicFramePr>
          <p:cNvPr id="7" name="pole tekstowe 1">
            <a:extLst>
              <a:ext uri="{FF2B5EF4-FFF2-40B4-BE49-F238E27FC236}">
                <a16:creationId xmlns:a16="http://schemas.microsoft.com/office/drawing/2014/main" id="{0FEDF93B-88A6-1299-DDC9-CEF5E74CB8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7922909"/>
              </p:ext>
            </p:extLst>
          </p:nvPr>
        </p:nvGraphicFramePr>
        <p:xfrm>
          <a:off x="1900794" y="443062"/>
          <a:ext cx="7929006" cy="4477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205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87828"/>
            <a:ext cx="3454449" cy="259080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287828"/>
            <a:ext cx="3454449" cy="259080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287828"/>
            <a:ext cx="3454449" cy="259080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593592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</a:rPr>
              <a:t>Incydenty ze świata rzeczywistego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28725"/>
            <a:ext cx="516243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475569"/>
                </a:solidFill>
              </a:rPr>
              <a:t>Przetwarzanie</a:t>
            </a:r>
            <a:r>
              <a:rPr sz="1500" b="0" i="0" u="none" dirty="0">
                <a:solidFill>
                  <a:srgbClr val="475569"/>
                </a:solidFill>
              </a:rPr>
              <a:t> </a:t>
            </a:r>
            <a:r>
              <a:rPr sz="1500" b="0" i="0" u="none" dirty="0" err="1">
                <a:solidFill>
                  <a:srgbClr val="475569"/>
                </a:solidFill>
              </a:rPr>
              <a:t>danych</a:t>
            </a:r>
            <a:r>
              <a:rPr sz="1500" b="0" i="0" u="none" dirty="0">
                <a:solidFill>
                  <a:srgbClr val="475569"/>
                </a:solidFill>
              </a:rPr>
              <a:t> to </a:t>
            </a:r>
            <a:r>
              <a:rPr sz="1500" b="0" i="0" u="none" dirty="0" err="1">
                <a:solidFill>
                  <a:srgbClr val="475569"/>
                </a:solidFill>
              </a:rPr>
              <a:t>zawsze</a:t>
            </a:r>
            <a:r>
              <a:rPr sz="1500" b="0" i="0" u="none" dirty="0">
                <a:solidFill>
                  <a:srgbClr val="475569"/>
                </a:solidFill>
              </a:rPr>
              <a:t> </a:t>
            </a:r>
            <a:r>
              <a:rPr sz="1500" b="0" i="0" u="none" dirty="0" err="1">
                <a:solidFill>
                  <a:srgbClr val="475569"/>
                </a:solidFill>
              </a:rPr>
              <a:t>potencjalny</a:t>
            </a:r>
            <a:r>
              <a:rPr sz="1500" b="0" i="0" u="none" dirty="0">
                <a:solidFill>
                  <a:srgbClr val="475569"/>
                </a:solidFill>
              </a:rPr>
              <a:t> </a:t>
            </a:r>
            <a:r>
              <a:rPr sz="1500" b="0" i="0" u="none" dirty="0" err="1">
                <a:solidFill>
                  <a:srgbClr val="475569"/>
                </a:solidFill>
              </a:rPr>
              <a:t>wektor</a:t>
            </a:r>
            <a:r>
              <a:rPr sz="1500" b="0" i="0" u="none" dirty="0">
                <a:solidFill>
                  <a:srgbClr val="475569"/>
                </a:solidFill>
              </a:rPr>
              <a:t> </a:t>
            </a:r>
            <a:r>
              <a:rPr sz="1500" b="0" i="0" u="none" dirty="0" err="1">
                <a:solidFill>
                  <a:srgbClr val="475569"/>
                </a:solidFill>
              </a:rPr>
              <a:t>uderzenia</a:t>
            </a:r>
            <a:r>
              <a:rPr sz="1500" b="0" i="0" u="none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668828"/>
            <a:ext cx="9169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</a:rPr>
              <a:t>CVE-2016-3714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99" y="2992678"/>
            <a:ext cx="1595821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</a:rPr>
              <a:t>ImageTragick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468928"/>
            <a:ext cx="27876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</a:rPr>
              <a:t>Podatność biblioteki ImageMagick. Tworzenie miniatury obrazu wystarczyło do wykonania złośliwego kodu.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9849" y="2668828"/>
            <a:ext cx="125515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</a:rPr>
              <a:t>Wiele bibliotek (2018)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849" y="2992678"/>
            <a:ext cx="165359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</a:rPr>
              <a:t>Wada Zip Slip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849" y="3468928"/>
            <a:ext cx="2787699" cy="753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</a:rPr>
              <a:t>Manipulacja ścieżkami w archiwum (../). Dekompresja nadpisywała krytyczne pliki docelowe systemu.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9099" y="2668828"/>
            <a:ext cx="98905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</a:rPr>
              <a:t>CVE-2023-50164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99" y="2992678"/>
            <a:ext cx="172925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</a:rPr>
              <a:t>Apache Struts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99" y="3468928"/>
            <a:ext cx="27876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</a:rPr>
              <a:t>Manipulacja parametrami pozwalała na dowolny zapis plików. Efekt to bezpośrednie wykonanie kodu na serwerze.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BC46A1C9-F2C6-256F-185B-F82A2FE4ECE4}"/>
              </a:ext>
            </a:extLst>
          </p:cNvPr>
          <p:cNvSpPr txBox="1"/>
          <p:nvPr/>
        </p:nvSpPr>
        <p:spPr>
          <a:xfrm>
            <a:off x="1198273" y="5709132"/>
            <a:ext cx="11664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b="1" dirty="0"/>
              <a:t>Wniosek</a:t>
            </a:r>
            <a:r>
              <a:rPr lang="pl-PL" sz="2000" b="1" dirty="0"/>
              <a:t>:</a:t>
            </a:r>
            <a:r>
              <a:rPr lang="pl-PL" sz="2000" dirty="0"/>
              <a:t> ryzyko leży nie tylko w samym zapisie, ale w przetwarzaniu pliku (biblioteki, archiwa, ścieżki).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81225"/>
            <a:ext cx="10972800" cy="34194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713572"/>
              </p:ext>
            </p:extLst>
          </p:nvPr>
        </p:nvGraphicFramePr>
        <p:xfrm>
          <a:off x="609600" y="2181225"/>
          <a:ext cx="10972800" cy="3419475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3895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 err="1">
                          <a:solidFill>
                            <a:srgbClr val="FFFFFF"/>
                          </a:solidFill>
                          <a:latin typeface="+mn-lt"/>
                        </a:rPr>
                        <a:t>Sztuczka</a:t>
                      </a:r>
                      <a:r>
                        <a:rPr sz="1500" b="1" i="0" u="none" dirty="0">
                          <a:solidFill>
                            <a:srgbClr val="FFFFFF"/>
                          </a:solidFill>
                          <a:latin typeface="+mn-lt"/>
                        </a:rPr>
                        <a:t> </a:t>
                      </a:r>
                      <a:r>
                        <a:rPr sz="1500" b="1" i="0" u="none" dirty="0" err="1">
                          <a:solidFill>
                            <a:srgbClr val="FFFFFF"/>
                          </a:solidFill>
                          <a:latin typeface="+mn-lt"/>
                        </a:rPr>
                        <a:t>intruza</a:t>
                      </a:r>
                      <a:endParaRPr sz="1500" b="1" i="0" u="none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+mn-lt"/>
                        </a:rPr>
                        <a:t>Przykład modyfikacji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+mn-lt"/>
                        </a:rPr>
                        <a:t>Właściwa obrona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+mn-lt"/>
                        </a:rPr>
                        <a:t>Podwójne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+mn-lt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+mn-lt"/>
                        </a:rPr>
                        <a:t>rozszerzenie</a:t>
                      </a:r>
                      <a:endParaRPr sz="1350" b="1" i="0" u="none" dirty="0">
                        <a:solidFill>
                          <a:srgbClr val="0F172A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foto.php.jpg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+mn-lt"/>
                        </a:rPr>
                        <a:t>Biała lista formatów i zmiana nazwy.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+mn-lt"/>
                        </a:rPr>
                        <a:t>Fałszywy nagłówek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image/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+mn-lt"/>
                        </a:rPr>
                        <a:t>png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 (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+mn-lt"/>
                        </a:rPr>
                        <a:t>skrypt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+mn-lt"/>
                        </a:rPr>
                        <a:t>Ignorowanie nagłówka z żądania.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+mn-lt"/>
                        </a:rPr>
                        <a:t>Omijanie wielkości liter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+mn-lt"/>
                        </a:rPr>
                        <a:t>shell.pHp</a:t>
                      </a:r>
                      <a:endParaRPr sz="1350" b="0" i="0" u="none" dirty="0">
                        <a:solidFill>
                          <a:srgbClr val="475569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+mn-lt"/>
                        </a:rPr>
                        <a:t>Normalizacja struktury ciągów.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+mn-lt"/>
                        </a:rPr>
                        <a:t>Złośliwy ładunek w EXIF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+mn-lt"/>
                        </a:rPr>
                        <a:t>Poprawny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+mn-lt"/>
                        </a:rPr>
                        <a:t>plik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 Polyglot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+mn-lt"/>
                        </a:rPr>
                        <a:t>Zawsze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+mn-lt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+mn-lt"/>
                        </a:rPr>
                        <a:t>rekompresować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+mn-lt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+mn-lt"/>
                        </a:rPr>
                        <a:t>obrazy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609600"/>
            <a:ext cx="613264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</a:rPr>
              <a:t>Popularne techniki obejścia blokad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B639C379-829E-754C-AF7A-DAB2FD74EA9F}"/>
              </a:ext>
            </a:extLst>
          </p:cNvPr>
          <p:cNvSpPr txBox="1"/>
          <p:nvPr/>
        </p:nvSpPr>
        <p:spPr>
          <a:xfrm>
            <a:off x="9995626" y="5124496"/>
            <a:ext cx="1398701" cy="6463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l-PL" b="1" dirty="0"/>
              <a:t>Odrzucenie</a:t>
            </a:r>
            <a:r>
              <a:rPr lang="pl-PL" dirty="0"/>
              <a:t> </a:t>
            </a:r>
          </a:p>
          <a:p>
            <a:pPr algn="ctr"/>
            <a:r>
              <a:rPr lang="pl-PL" dirty="0"/>
              <a:t>log + alert </a:t>
            </a:r>
          </a:p>
        </p:txBody>
      </p:sp>
      <p:sp>
        <p:nvSpPr>
          <p:cNvPr id="13" name="Objaśnienie: strzałka w dół 12">
            <a:extLst>
              <a:ext uri="{FF2B5EF4-FFF2-40B4-BE49-F238E27FC236}">
                <a16:creationId xmlns:a16="http://schemas.microsoft.com/office/drawing/2014/main" id="{D0BFFC1B-9E2D-53C0-3B90-6F0A409D3B23}"/>
              </a:ext>
            </a:extLst>
          </p:cNvPr>
          <p:cNvSpPr/>
          <p:nvPr/>
        </p:nvSpPr>
        <p:spPr>
          <a:xfrm>
            <a:off x="1497022" y="330000"/>
            <a:ext cx="2118730" cy="2226384"/>
          </a:xfrm>
          <a:prstGeom prst="downArrowCallou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/>
              <a:t>Klient </a:t>
            </a:r>
          </a:p>
          <a:p>
            <a:pPr algn="ctr"/>
            <a:r>
              <a:rPr lang="pl-PL" dirty="0"/>
              <a:t>HTTPS, uwierzytelnienie, autoryzacja</a:t>
            </a:r>
          </a:p>
          <a:p>
            <a:pPr algn="ctr"/>
            <a:endParaRPr lang="pl-PL" dirty="0"/>
          </a:p>
        </p:txBody>
      </p:sp>
      <p:sp>
        <p:nvSpPr>
          <p:cNvPr id="22" name="Objaśnienie: strzałka w prawo 21">
            <a:extLst>
              <a:ext uri="{FF2B5EF4-FFF2-40B4-BE49-F238E27FC236}">
                <a16:creationId xmlns:a16="http://schemas.microsoft.com/office/drawing/2014/main" id="{F9F8A2CD-0EFF-7553-61ED-6A2A99F444A9}"/>
              </a:ext>
            </a:extLst>
          </p:cNvPr>
          <p:cNvSpPr/>
          <p:nvPr/>
        </p:nvSpPr>
        <p:spPr>
          <a:xfrm>
            <a:off x="1497022" y="2738594"/>
            <a:ext cx="3224981" cy="1380810"/>
          </a:xfrm>
          <a:prstGeom prst="rightArrowCallou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/>
              <a:t>Brama / API</a:t>
            </a:r>
          </a:p>
          <a:p>
            <a:pPr algn="ctr"/>
            <a:r>
              <a:rPr lang="pl-PL" dirty="0"/>
              <a:t>limity rozmiaru, </a:t>
            </a:r>
            <a:r>
              <a:rPr lang="pl-PL" dirty="0" err="1"/>
              <a:t>rate</a:t>
            </a:r>
            <a:r>
              <a:rPr lang="pl-PL" dirty="0"/>
              <a:t> </a:t>
            </a:r>
            <a:r>
              <a:rPr lang="pl-PL" dirty="0" err="1"/>
              <a:t>limiting</a:t>
            </a:r>
            <a:r>
              <a:rPr lang="pl-PL" dirty="0"/>
              <a:t>, walidacja </a:t>
            </a:r>
          </a:p>
        </p:txBody>
      </p:sp>
      <p:sp>
        <p:nvSpPr>
          <p:cNvPr id="27" name="Objaśnienie: strzałka w prawo 26">
            <a:extLst>
              <a:ext uri="{FF2B5EF4-FFF2-40B4-BE49-F238E27FC236}">
                <a16:creationId xmlns:a16="http://schemas.microsoft.com/office/drawing/2014/main" id="{A1DC2E3E-84D7-9B30-DEE9-312AE477011D}"/>
              </a:ext>
            </a:extLst>
          </p:cNvPr>
          <p:cNvSpPr/>
          <p:nvPr/>
        </p:nvSpPr>
        <p:spPr>
          <a:xfrm>
            <a:off x="4864451" y="2448853"/>
            <a:ext cx="2605548" cy="2124389"/>
          </a:xfrm>
          <a:prstGeom prst="rightArrowCallou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/>
              <a:t>Kwarantanna</a:t>
            </a:r>
            <a:r>
              <a:rPr lang="pl-PL" dirty="0"/>
              <a:t> osobny </a:t>
            </a:r>
            <a:r>
              <a:rPr lang="pl-PL" dirty="0" err="1"/>
              <a:t>storage</a:t>
            </a:r>
            <a:r>
              <a:rPr lang="pl-PL" dirty="0"/>
              <a:t>, brak wykonywania, brak publicznego dostępu</a:t>
            </a:r>
          </a:p>
          <a:p>
            <a:pPr algn="ctr"/>
            <a:endParaRPr lang="pl-PL" dirty="0"/>
          </a:p>
        </p:txBody>
      </p:sp>
      <p:sp>
        <p:nvSpPr>
          <p:cNvPr id="29" name="Prostokąt 28">
            <a:extLst>
              <a:ext uri="{FF2B5EF4-FFF2-40B4-BE49-F238E27FC236}">
                <a16:creationId xmlns:a16="http://schemas.microsoft.com/office/drawing/2014/main" id="{9AFCD5A6-1991-983B-661D-5102C46759F4}"/>
              </a:ext>
            </a:extLst>
          </p:cNvPr>
          <p:cNvSpPr/>
          <p:nvPr/>
        </p:nvSpPr>
        <p:spPr>
          <a:xfrm>
            <a:off x="7764964" y="2827706"/>
            <a:ext cx="2930013" cy="13666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/>
              <a:t>Skaner </a:t>
            </a:r>
          </a:p>
          <a:p>
            <a:pPr algn="ctr"/>
            <a:r>
              <a:rPr lang="pl-PL" dirty="0"/>
              <a:t>antywirus + </a:t>
            </a:r>
            <a:r>
              <a:rPr lang="pl-PL" dirty="0" err="1"/>
              <a:t>sandbox</a:t>
            </a:r>
            <a:r>
              <a:rPr lang="pl-PL" dirty="0"/>
              <a:t>, analiza asynchroniczna </a:t>
            </a:r>
          </a:p>
          <a:p>
            <a:pPr algn="ctr"/>
            <a:endParaRPr lang="pl-PL" dirty="0"/>
          </a:p>
        </p:txBody>
      </p:sp>
      <p:sp>
        <p:nvSpPr>
          <p:cNvPr id="30" name="Prostokąt 29">
            <a:extLst>
              <a:ext uri="{FF2B5EF4-FFF2-40B4-BE49-F238E27FC236}">
                <a16:creationId xmlns:a16="http://schemas.microsoft.com/office/drawing/2014/main" id="{B05B3AEC-5ED4-F8E0-4F35-ECBCB26A49A9}"/>
              </a:ext>
            </a:extLst>
          </p:cNvPr>
          <p:cNvSpPr/>
          <p:nvPr/>
        </p:nvSpPr>
        <p:spPr>
          <a:xfrm>
            <a:off x="6635573" y="5121756"/>
            <a:ext cx="2258781" cy="94819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/>
              <a:t>Czysty magazyn</a:t>
            </a:r>
          </a:p>
          <a:p>
            <a:pPr algn="ctr"/>
            <a:r>
              <a:rPr lang="pl-PL" dirty="0"/>
              <a:t>losowa nazwa, osobna domena / CDN</a:t>
            </a:r>
          </a:p>
        </p:txBody>
      </p: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04A29002-769D-9100-9660-0FE0F8917BB2}"/>
              </a:ext>
            </a:extLst>
          </p:cNvPr>
          <p:cNvCxnSpPr>
            <a:stCxn id="29" idx="2"/>
            <a:endCxn id="7" idx="0"/>
          </p:cNvCxnSpPr>
          <p:nvPr/>
        </p:nvCxnSpPr>
        <p:spPr>
          <a:xfrm>
            <a:off x="9229971" y="4194388"/>
            <a:ext cx="1465006" cy="930108"/>
          </a:xfrm>
          <a:prstGeom prst="straightConnector1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Łącznik prosty ze strzałką 33">
            <a:extLst>
              <a:ext uri="{FF2B5EF4-FFF2-40B4-BE49-F238E27FC236}">
                <a16:creationId xmlns:a16="http://schemas.microsoft.com/office/drawing/2014/main" id="{34BC4CFF-F649-894E-71FF-885966D2F94A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 flipH="1">
            <a:off x="7764964" y="4194388"/>
            <a:ext cx="1465007" cy="927368"/>
          </a:xfrm>
          <a:prstGeom prst="straightConnector1">
            <a:avLst/>
          </a:prstGeom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66D68C58-3A73-3FD1-2327-9D5AA634F48E}"/>
              </a:ext>
            </a:extLst>
          </p:cNvPr>
          <p:cNvSpPr txBox="1"/>
          <p:nvPr/>
        </p:nvSpPr>
        <p:spPr>
          <a:xfrm>
            <a:off x="4864451" y="374103"/>
            <a:ext cx="5535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/>
              <a:t>Zasada: </a:t>
            </a:r>
            <a:r>
              <a:rPr lang="pl-PL" sz="2400" dirty="0"/>
              <a:t>plik jest niezaufany, dopóki nie przejdzie wszystkich warstw. Użytkownik nie dostaje go z powrotem, zanim skan się zakończy.</a:t>
            </a:r>
          </a:p>
        </p:txBody>
      </p:sp>
    </p:spTree>
    <p:extLst>
      <p:ext uri="{BB962C8B-B14F-4D97-AF65-F5344CB8AC3E}">
        <p14:creationId xmlns:p14="http://schemas.microsoft.com/office/powerpoint/2010/main" val="111062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0" y="1533525"/>
            <a:ext cx="5638800" cy="4714875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09837"/>
            <a:ext cx="47244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66987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86162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05337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2" y="2757487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77666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795837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531068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</a:rPr>
              <a:t>Warstwa</a:t>
            </a:r>
            <a:r>
              <a:rPr sz="3000" b="1" i="0" u="none" dirty="0">
                <a:solidFill>
                  <a:srgbClr val="0F172A"/>
                </a:solidFill>
              </a:rPr>
              <a:t> 1: </a:t>
            </a:r>
            <a:r>
              <a:rPr sz="3000" b="1" i="0" u="none" dirty="0" err="1">
                <a:solidFill>
                  <a:srgbClr val="0F172A"/>
                </a:solidFill>
              </a:rPr>
              <a:t>Kontrola</a:t>
            </a:r>
            <a:r>
              <a:rPr sz="3000" b="1" i="0" u="none" dirty="0">
                <a:solidFill>
                  <a:srgbClr val="0F172A"/>
                </a:solidFill>
              </a:rPr>
              <a:t> </a:t>
            </a:r>
            <a:r>
              <a:rPr sz="3000" b="1" i="0" u="none" dirty="0" err="1">
                <a:solidFill>
                  <a:srgbClr val="0F172A"/>
                </a:solidFill>
              </a:rPr>
              <a:t>backendu</a:t>
            </a:r>
            <a:endParaRPr sz="3000" b="1" i="0" u="none" dirty="0">
              <a:solidFill>
                <a:srgbClr val="0F172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3424237"/>
            <a:ext cx="300825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FFFFFF"/>
                </a:solidFill>
              </a:rPr>
              <a:t>Ograniczenia</a:t>
            </a:r>
            <a:r>
              <a:rPr sz="2100" b="1" i="0" u="none" dirty="0">
                <a:solidFill>
                  <a:srgbClr val="FFFFFF"/>
                </a:solidFill>
              </a:rPr>
              <a:t> </a:t>
            </a:r>
            <a:r>
              <a:rPr sz="2100" b="1" i="0" u="none" dirty="0" err="1">
                <a:solidFill>
                  <a:srgbClr val="FFFFFF"/>
                </a:solidFill>
              </a:rPr>
              <a:t>operacyjne</a:t>
            </a:r>
            <a:endParaRPr sz="2100" b="1" i="0" u="none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24625" y="3900487"/>
            <a:ext cx="8976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900487"/>
            <a:ext cx="3196709" cy="312971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 dirty="0" err="1">
                <a:solidFill>
                  <a:srgbClr val="CBD5E1"/>
                </a:solidFill>
              </a:rPr>
              <a:t>Restrykcyjne</a:t>
            </a:r>
            <a:r>
              <a:rPr sz="1500" b="0" i="0" u="none" dirty="0">
                <a:solidFill>
                  <a:srgbClr val="CBD5E1"/>
                </a:solidFill>
              </a:rPr>
              <a:t> </a:t>
            </a:r>
            <a:r>
              <a:rPr sz="1500" b="0" i="0" u="none" dirty="0" err="1">
                <a:solidFill>
                  <a:srgbClr val="CBD5E1"/>
                </a:solidFill>
              </a:rPr>
              <a:t>limity</a:t>
            </a:r>
            <a:r>
              <a:rPr sz="1500" b="0" i="0" u="none" dirty="0">
                <a:solidFill>
                  <a:srgbClr val="CBD5E1"/>
                </a:solidFill>
              </a:rPr>
              <a:t> </a:t>
            </a:r>
            <a:r>
              <a:rPr sz="1500" b="0" i="0" u="none" dirty="0" err="1">
                <a:solidFill>
                  <a:srgbClr val="CBD5E1"/>
                </a:solidFill>
              </a:rPr>
              <a:t>obciążeń</a:t>
            </a:r>
            <a:r>
              <a:rPr sz="1500" b="0" i="0" u="none" dirty="0">
                <a:solidFill>
                  <a:srgbClr val="CBD5E1"/>
                </a:solidFill>
              </a:rPr>
              <a:t> </a:t>
            </a:r>
            <a:r>
              <a:rPr sz="1500" b="0" i="0" u="none" dirty="0" err="1">
                <a:solidFill>
                  <a:srgbClr val="CBD5E1"/>
                </a:solidFill>
              </a:rPr>
              <a:t>serwera</a:t>
            </a:r>
            <a:r>
              <a:rPr sz="1500" b="0" i="0" u="none" dirty="0">
                <a:solidFill>
                  <a:srgbClr val="CBD5E1"/>
                </a:solidFill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243387"/>
            <a:ext cx="8976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243387"/>
            <a:ext cx="2808589" cy="312971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 dirty="0">
                <a:solidFill>
                  <a:srgbClr val="CBD5E1"/>
                </a:solidFill>
              </a:rPr>
              <a:t>Rate limiting </a:t>
            </a:r>
            <a:r>
              <a:rPr sz="1500" b="0" i="0" u="none" dirty="0" err="1">
                <a:solidFill>
                  <a:srgbClr val="CBD5E1"/>
                </a:solidFill>
              </a:rPr>
              <a:t>endpointu</a:t>
            </a:r>
            <a:r>
              <a:rPr sz="1500" b="0" i="0" u="none" dirty="0">
                <a:solidFill>
                  <a:srgbClr val="CBD5E1"/>
                </a:solidFill>
              </a:rPr>
              <a:t> </a:t>
            </a:r>
            <a:r>
              <a:rPr sz="1500" b="0" i="0" u="none" dirty="0" err="1">
                <a:solidFill>
                  <a:srgbClr val="CBD5E1"/>
                </a:solidFill>
              </a:rPr>
              <a:t>uploadu</a:t>
            </a:r>
            <a:r>
              <a:rPr sz="1500" b="0" i="0" u="none" dirty="0">
                <a:solidFill>
                  <a:srgbClr val="CBD5E1"/>
                </a:solidFill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586287"/>
            <a:ext cx="8976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86287"/>
            <a:ext cx="2964273" cy="312971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 dirty="0" err="1">
                <a:solidFill>
                  <a:srgbClr val="CBD5E1"/>
                </a:solidFill>
              </a:rPr>
              <a:t>Pamiętaj</a:t>
            </a:r>
            <a:r>
              <a:rPr sz="1500" b="0" i="0" u="none" dirty="0">
                <a:solidFill>
                  <a:srgbClr val="CBD5E1"/>
                </a:solidFill>
              </a:rPr>
              <a:t> o </a:t>
            </a:r>
            <a:r>
              <a:rPr sz="1500" b="0" i="0" u="none" dirty="0" err="1">
                <a:solidFill>
                  <a:srgbClr val="CBD5E1"/>
                </a:solidFill>
              </a:rPr>
              <a:t>uwierzytelnianiu</a:t>
            </a:r>
            <a:r>
              <a:rPr sz="1500" b="0" i="0" u="none" dirty="0">
                <a:solidFill>
                  <a:srgbClr val="CBD5E1"/>
                </a:solidFill>
              </a:rPr>
              <a:t> </a:t>
            </a:r>
            <a:r>
              <a:rPr sz="1500" b="0" i="0" u="none" dirty="0" err="1">
                <a:solidFill>
                  <a:srgbClr val="CBD5E1"/>
                </a:solidFill>
              </a:rPr>
              <a:t>żądań</a:t>
            </a:r>
            <a:r>
              <a:rPr sz="1500" b="0" i="0" u="none" dirty="0">
                <a:solidFill>
                  <a:srgbClr val="CBD5E1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4929187"/>
            <a:ext cx="8976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929187"/>
            <a:ext cx="3015121" cy="312971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 i="0" u="none" dirty="0" err="1">
                <a:solidFill>
                  <a:srgbClr val="CBD5E1"/>
                </a:solidFill>
              </a:rPr>
              <a:t>Zawsze</a:t>
            </a:r>
            <a:r>
              <a:rPr sz="1500" b="0" i="0" u="none" dirty="0">
                <a:solidFill>
                  <a:srgbClr val="CBD5E1"/>
                </a:solidFill>
              </a:rPr>
              <a:t> </a:t>
            </a:r>
            <a:r>
              <a:rPr sz="1500" b="0" i="0" u="none" dirty="0" err="1">
                <a:solidFill>
                  <a:srgbClr val="CBD5E1"/>
                </a:solidFill>
              </a:rPr>
              <a:t>waliduj</a:t>
            </a:r>
            <a:r>
              <a:rPr sz="1500" b="0" i="0" u="none" dirty="0">
                <a:solidFill>
                  <a:srgbClr val="CBD5E1"/>
                </a:solidFill>
              </a:rPr>
              <a:t> </a:t>
            </a:r>
            <a:r>
              <a:rPr sz="1500" b="0" i="0" u="none" dirty="0" err="1">
                <a:solidFill>
                  <a:srgbClr val="CBD5E1"/>
                </a:solidFill>
              </a:rPr>
              <a:t>pliki</a:t>
            </a:r>
            <a:r>
              <a:rPr sz="1500" b="0" i="0" u="none" dirty="0">
                <a:solidFill>
                  <a:srgbClr val="CBD5E1"/>
                </a:solidFill>
              </a:rPr>
              <a:t> </a:t>
            </a:r>
            <a:r>
              <a:rPr sz="1500" b="0" i="0" u="none" dirty="0" err="1">
                <a:solidFill>
                  <a:srgbClr val="CBD5E1"/>
                </a:solidFill>
              </a:rPr>
              <a:t>na</a:t>
            </a:r>
            <a:r>
              <a:rPr sz="1500" b="0" i="0" u="none" dirty="0">
                <a:solidFill>
                  <a:srgbClr val="CBD5E1"/>
                </a:solidFill>
              </a:rPr>
              <a:t> </a:t>
            </a:r>
            <a:r>
              <a:rPr sz="1500" b="0" i="0" u="none" dirty="0" err="1">
                <a:solidFill>
                  <a:srgbClr val="CBD5E1"/>
                </a:solidFill>
              </a:rPr>
              <a:t>backendzie</a:t>
            </a:r>
            <a:r>
              <a:rPr sz="1500" b="0" i="0" u="none" dirty="0">
                <a:solidFill>
                  <a:srgbClr val="CBD5E1"/>
                </a:solidFill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800" y="2514600"/>
            <a:ext cx="171393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F172A"/>
                </a:solidFill>
              </a:rPr>
              <a:t>Biała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lista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typów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47800" y="2828925"/>
            <a:ext cx="39814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</a:rPr>
              <a:t>Zawsze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dopuszczaj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tylko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konkretne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formaty</a:t>
            </a:r>
            <a:r>
              <a:rPr sz="1350" b="0" i="0" u="none" dirty="0">
                <a:solidFill>
                  <a:srgbClr val="475569"/>
                </a:solidFill>
              </a:rPr>
              <a:t>. </a:t>
            </a:r>
            <a:r>
              <a:rPr sz="1350" b="0" i="0" u="none" dirty="0" err="1">
                <a:solidFill>
                  <a:srgbClr val="475569"/>
                </a:solidFill>
              </a:rPr>
              <a:t>Odrzucaj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resztę</a:t>
            </a:r>
            <a:r>
              <a:rPr sz="1350" b="0" i="0" u="none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800" y="3533775"/>
            <a:ext cx="307391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F172A"/>
                </a:solidFill>
              </a:rPr>
              <a:t>Zgodność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magicznych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bajtów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47800" y="3848100"/>
            <a:ext cx="39814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</a:rPr>
              <a:t>Weryfikuj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sygnatury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strumieni</a:t>
            </a:r>
            <a:r>
              <a:rPr sz="1350" b="0" i="0" u="none" dirty="0">
                <a:solidFill>
                  <a:srgbClr val="475569"/>
                </a:solidFill>
              </a:rPr>
              <a:t> z </a:t>
            </a:r>
            <a:r>
              <a:rPr sz="1350" b="0" i="0" u="none" dirty="0" err="1">
                <a:solidFill>
                  <a:srgbClr val="475569"/>
                </a:solidFill>
              </a:rPr>
              <a:t>nagłówkami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żądań</a:t>
            </a:r>
            <a:r>
              <a:rPr sz="1350" b="0" i="0" u="none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7800" y="4552950"/>
            <a:ext cx="310931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F172A"/>
                </a:solidFill>
              </a:rPr>
              <a:t>Anonimizacja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identyfikatorów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47800" y="4867275"/>
            <a:ext cx="39814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</a:rPr>
              <a:t>Wymuszaj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nazwy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oparte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na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losowych</a:t>
            </a:r>
            <a:r>
              <a:rPr sz="1350" b="0" i="0" u="none" dirty="0">
                <a:solidFill>
                  <a:srgbClr val="475569"/>
                </a:solidFill>
              </a:rPr>
              <a:t> UUID, </a:t>
            </a:r>
            <a:r>
              <a:rPr sz="1350" b="0" i="0" u="none" dirty="0" err="1">
                <a:solidFill>
                  <a:srgbClr val="475569"/>
                </a:solidFill>
              </a:rPr>
              <a:t>nigdy</a:t>
            </a:r>
            <a:r>
              <a:rPr sz="1350" b="0" i="0" u="none" dirty="0">
                <a:solidFill>
                  <a:srgbClr val="475569"/>
                </a:solidFill>
              </a:rPr>
              <a:t> od </a:t>
            </a:r>
            <a:r>
              <a:rPr sz="1350" b="0" i="0" u="none" dirty="0" err="1">
                <a:solidFill>
                  <a:srgbClr val="475569"/>
                </a:solidFill>
              </a:rPr>
              <a:t>klienta</a:t>
            </a:r>
            <a:r>
              <a:rPr sz="1350" b="0" i="0" u="none" dirty="0">
                <a:solidFill>
                  <a:srgbClr val="47556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4044" y="1390650"/>
            <a:ext cx="3454449" cy="2276475"/>
          </a:xfrm>
          <a:prstGeom prst="roundRect">
            <a:avLst>
              <a:gd name="adj" fmla="val 66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72543" y="1390650"/>
            <a:ext cx="3454449" cy="2276475"/>
          </a:xfrm>
          <a:prstGeom prst="roundRect">
            <a:avLst>
              <a:gd name="adj" fmla="val 66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594" y="17716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844" y="16716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943" y="1771650"/>
            <a:ext cx="5715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543533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</a:rPr>
              <a:t>Warstwa</a:t>
            </a:r>
            <a:r>
              <a:rPr sz="3000" b="1" i="0" u="none" dirty="0">
                <a:solidFill>
                  <a:srgbClr val="0F172A"/>
                </a:solidFill>
              </a:rPr>
              <a:t> 2: </a:t>
            </a:r>
            <a:r>
              <a:rPr sz="3000" b="1" i="0" u="none" dirty="0" err="1">
                <a:solidFill>
                  <a:srgbClr val="0F172A"/>
                </a:solidFill>
              </a:rPr>
              <a:t>Separacja</a:t>
            </a:r>
            <a:r>
              <a:rPr sz="3000" b="1" i="0" u="none" dirty="0">
                <a:solidFill>
                  <a:srgbClr val="0F172A"/>
                </a:solidFill>
              </a:rPr>
              <a:t> </a:t>
            </a:r>
            <a:r>
              <a:rPr sz="3000" b="1" i="0" u="none" dirty="0" err="1">
                <a:solidFill>
                  <a:srgbClr val="0F172A"/>
                </a:solidFill>
              </a:rPr>
              <a:t>struktury</a:t>
            </a:r>
            <a:endParaRPr sz="3000" b="1" i="0" u="none" dirty="0">
              <a:solidFill>
                <a:srgbClr val="0F172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11094" y="2457450"/>
            <a:ext cx="17403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0F172A"/>
                </a:solidFill>
              </a:rPr>
              <a:t>Poza </a:t>
            </a:r>
            <a:r>
              <a:rPr sz="1800" b="1" i="0" u="none" dirty="0" err="1">
                <a:solidFill>
                  <a:srgbClr val="0F172A"/>
                </a:solidFill>
              </a:rPr>
              <a:t>webrootem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8487" y="2886075"/>
            <a:ext cx="336556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 err="1">
                <a:solidFill>
                  <a:srgbClr val="475569"/>
                </a:solidFill>
              </a:rPr>
              <a:t>Używaj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chmury</a:t>
            </a:r>
            <a:r>
              <a:rPr sz="1350" b="0" i="0" u="none" dirty="0">
                <a:solidFill>
                  <a:srgbClr val="475569"/>
                </a:solidFill>
              </a:rPr>
              <a:t> object storage do </a:t>
            </a:r>
            <a:r>
              <a:rPr sz="1350" b="0" i="0" u="none" dirty="0" err="1">
                <a:solidFill>
                  <a:srgbClr val="475569"/>
                </a:solidFill>
              </a:rPr>
              <a:t>składowania</a:t>
            </a:r>
            <a:r>
              <a:rPr sz="1350" b="0" i="0" u="none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4767" y="2357437"/>
            <a:ext cx="197150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</a:rPr>
              <a:t>Izolowana domena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737" y="2786062"/>
            <a:ext cx="336556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</a:rPr>
              <a:t>Minimalizuj ryzyko kradzieży ciasteczek sesyjnych aplikacji (XSS).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1178" y="2457450"/>
            <a:ext cx="233717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 err="1">
                <a:solidFill>
                  <a:srgbClr val="0F172A"/>
                </a:solidFill>
              </a:rPr>
              <a:t>Restrykcje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nagłówkó</a:t>
            </a:r>
            <a:r>
              <a:rPr lang="pl-PL" sz="1800" b="1" i="0" u="none" dirty="0">
                <a:solidFill>
                  <a:srgbClr val="0F172A"/>
                </a:solidFill>
              </a:rPr>
              <a:t>w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16987" y="2886075"/>
            <a:ext cx="336556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 err="1">
                <a:solidFill>
                  <a:srgbClr val="475569"/>
                </a:solidFill>
              </a:rPr>
              <a:t>Narzucaj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dyrektywy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pobierania</a:t>
            </a:r>
            <a:r>
              <a:rPr sz="1350" b="0" i="0" u="none" dirty="0">
                <a:solidFill>
                  <a:srgbClr val="475569"/>
                </a:solidFill>
              </a:rPr>
              <a:t> attachment </a:t>
            </a:r>
            <a:r>
              <a:rPr sz="1350" b="0" i="0" u="none" dirty="0" err="1">
                <a:solidFill>
                  <a:srgbClr val="475569"/>
                </a:solidFill>
              </a:rPr>
              <a:t>oraz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zasady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nosniff</a:t>
            </a:r>
            <a:r>
              <a:rPr sz="1350" b="0" i="0" u="none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F870AB62-FC46-02D9-B284-168B25524542}"/>
              </a:ext>
            </a:extLst>
          </p:cNvPr>
          <p:cNvSpPr/>
          <p:nvPr/>
        </p:nvSpPr>
        <p:spPr>
          <a:xfrm>
            <a:off x="654044" y="3971925"/>
            <a:ext cx="3454449" cy="2276475"/>
          </a:xfrm>
          <a:prstGeom prst="roundRect">
            <a:avLst>
              <a:gd name="adj" fmla="val 66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4" descr="image.png">
            <a:extLst>
              <a:ext uri="{FF2B5EF4-FFF2-40B4-BE49-F238E27FC236}">
                <a16:creationId xmlns:a16="http://schemas.microsoft.com/office/drawing/2014/main" id="{1D0B6A33-A5FB-687E-BDBB-D398F006E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594" y="4352925"/>
            <a:ext cx="457200" cy="45720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6A61F5B2-7A00-5CE6-5033-F9370E953D73}"/>
              </a:ext>
            </a:extLst>
          </p:cNvPr>
          <p:cNvSpPr txBox="1"/>
          <p:nvPr/>
        </p:nvSpPr>
        <p:spPr>
          <a:xfrm>
            <a:off x="1575983" y="5038725"/>
            <a:ext cx="16105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pl-PL" b="1" dirty="0">
                <a:solidFill>
                  <a:srgbClr val="0F172A"/>
                </a:solidFill>
              </a:rPr>
              <a:t>Krótkotrwałość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68C9F4C3-49D5-A541-AC6B-EED5DE74500C}"/>
              </a:ext>
            </a:extLst>
          </p:cNvPr>
          <p:cNvSpPr txBox="1"/>
          <p:nvPr/>
        </p:nvSpPr>
        <p:spPr>
          <a:xfrm>
            <a:off x="698487" y="5467350"/>
            <a:ext cx="336556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l-PL" sz="1400" dirty="0"/>
              <a:t>Dostęp przez krótkotrwałe podpisane URL (</a:t>
            </a:r>
            <a:r>
              <a:rPr lang="pl-PL" sz="1400" dirty="0" err="1"/>
              <a:t>pre-signed</a:t>
            </a:r>
            <a:r>
              <a:rPr lang="pl-PL" sz="1400" dirty="0"/>
              <a:t>) i kontrolę uprawnień</a:t>
            </a:r>
            <a:endParaRPr sz="1350" b="0" i="0" u="none" dirty="0">
              <a:solidFill>
                <a:srgbClr val="475569"/>
              </a:solidFill>
            </a:endParaRPr>
          </a:p>
        </p:txBody>
      </p:sp>
      <p:sp>
        <p:nvSpPr>
          <p:cNvPr id="26" name="Rounded Rectangle 2">
            <a:extLst>
              <a:ext uri="{FF2B5EF4-FFF2-40B4-BE49-F238E27FC236}">
                <a16:creationId xmlns:a16="http://schemas.microsoft.com/office/drawing/2014/main" id="{E4657781-71C4-E06E-A280-9D22DE317F47}"/>
              </a:ext>
            </a:extLst>
          </p:cNvPr>
          <p:cNvSpPr/>
          <p:nvPr/>
        </p:nvSpPr>
        <p:spPr>
          <a:xfrm>
            <a:off x="4475210" y="1234256"/>
            <a:ext cx="3454449" cy="24765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5" descr="image.png">
            <a:extLst>
              <a:ext uri="{FF2B5EF4-FFF2-40B4-BE49-F238E27FC236}">
                <a16:creationId xmlns:a16="http://schemas.microsoft.com/office/drawing/2014/main" id="{C2133ACA-4955-3EE2-4E74-275200E5F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244" y="1824037"/>
            <a:ext cx="457200" cy="457200"/>
          </a:xfrm>
          <a:prstGeom prst="rect">
            <a:avLst/>
          </a:prstGeom>
        </p:spPr>
      </p:pic>
      <p:sp>
        <p:nvSpPr>
          <p:cNvPr id="30" name="TextBox 10">
            <a:extLst>
              <a:ext uri="{FF2B5EF4-FFF2-40B4-BE49-F238E27FC236}">
                <a16:creationId xmlns:a16="http://schemas.microsoft.com/office/drawing/2014/main" id="{99270742-2293-8019-B8E7-F050329A1367}"/>
              </a:ext>
            </a:extLst>
          </p:cNvPr>
          <p:cNvSpPr txBox="1"/>
          <p:nvPr/>
        </p:nvSpPr>
        <p:spPr>
          <a:xfrm>
            <a:off x="5307167" y="2509837"/>
            <a:ext cx="197150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 err="1">
                <a:solidFill>
                  <a:srgbClr val="0F172A"/>
                </a:solidFill>
              </a:rPr>
              <a:t>Izolowana</a:t>
            </a:r>
            <a:r>
              <a:rPr sz="1800" b="1" i="0" u="none" dirty="0">
                <a:solidFill>
                  <a:srgbClr val="0F172A"/>
                </a:solidFill>
              </a:rPr>
              <a:t> </a:t>
            </a:r>
            <a:r>
              <a:rPr sz="1800" b="1" i="0" u="none" dirty="0" err="1">
                <a:solidFill>
                  <a:srgbClr val="0F172A"/>
                </a:solidFill>
              </a:rPr>
              <a:t>domena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AB038320-5600-160C-F940-033A52AE7C58}"/>
              </a:ext>
            </a:extLst>
          </p:cNvPr>
          <p:cNvSpPr txBox="1"/>
          <p:nvPr/>
        </p:nvSpPr>
        <p:spPr>
          <a:xfrm>
            <a:off x="4610137" y="2938462"/>
            <a:ext cx="336556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 err="1">
                <a:solidFill>
                  <a:srgbClr val="475569"/>
                </a:solidFill>
              </a:rPr>
              <a:t>Minimalizuj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ryzyko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kradzieży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ciasteczek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sesyjnych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aplikacji</a:t>
            </a:r>
            <a:r>
              <a:rPr sz="1350" b="0" i="0" u="none" dirty="0">
                <a:solidFill>
                  <a:srgbClr val="475569"/>
                </a:solidFill>
              </a:rPr>
              <a:t> (XSS).</a:t>
            </a:r>
          </a:p>
        </p:txBody>
      </p:sp>
      <p:sp>
        <p:nvSpPr>
          <p:cNvPr id="38" name="Rounded Rectangle 3">
            <a:extLst>
              <a:ext uri="{FF2B5EF4-FFF2-40B4-BE49-F238E27FC236}">
                <a16:creationId xmlns:a16="http://schemas.microsoft.com/office/drawing/2014/main" id="{CBBDB16F-3EF5-8DAD-C9CC-05C3C3988337}"/>
              </a:ext>
            </a:extLst>
          </p:cNvPr>
          <p:cNvSpPr/>
          <p:nvPr/>
        </p:nvSpPr>
        <p:spPr>
          <a:xfrm>
            <a:off x="8172543" y="3971925"/>
            <a:ext cx="3454449" cy="2276475"/>
          </a:xfrm>
          <a:prstGeom prst="roundRect">
            <a:avLst>
              <a:gd name="adj" fmla="val 66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6" descr="image.png">
            <a:extLst>
              <a:ext uri="{FF2B5EF4-FFF2-40B4-BE49-F238E27FC236}">
                <a16:creationId xmlns:a16="http://schemas.microsoft.com/office/drawing/2014/main" id="{3CBCC7ED-6D53-E851-5AAE-5C05D1396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943" y="4352925"/>
            <a:ext cx="571500" cy="457200"/>
          </a:xfrm>
          <a:prstGeom prst="rect">
            <a:avLst/>
          </a:prstGeom>
        </p:spPr>
      </p:pic>
      <p:sp>
        <p:nvSpPr>
          <p:cNvPr id="42" name="TextBox 12">
            <a:extLst>
              <a:ext uri="{FF2B5EF4-FFF2-40B4-BE49-F238E27FC236}">
                <a16:creationId xmlns:a16="http://schemas.microsoft.com/office/drawing/2014/main" id="{65939AE2-5180-3316-3375-1A26586B8EC2}"/>
              </a:ext>
            </a:extLst>
          </p:cNvPr>
          <p:cNvSpPr txBox="1"/>
          <p:nvPr/>
        </p:nvSpPr>
        <p:spPr>
          <a:xfrm>
            <a:off x="9634472" y="5038725"/>
            <a:ext cx="53059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pl-PL" b="1" dirty="0">
                <a:solidFill>
                  <a:srgbClr val="0F172A"/>
                </a:solidFill>
              </a:rPr>
              <a:t>Inne:</a:t>
            </a:r>
            <a:endParaRPr sz="1800" b="1" i="0" u="none" dirty="0">
              <a:solidFill>
                <a:srgbClr val="0F172A"/>
              </a:solidFill>
            </a:endParaRPr>
          </a:p>
        </p:txBody>
      </p:sp>
      <p:sp>
        <p:nvSpPr>
          <p:cNvPr id="44" name="TextBox 13">
            <a:extLst>
              <a:ext uri="{FF2B5EF4-FFF2-40B4-BE49-F238E27FC236}">
                <a16:creationId xmlns:a16="http://schemas.microsoft.com/office/drawing/2014/main" id="{B2BACC7D-08EA-81DC-49B5-B17309957DDA}"/>
              </a:ext>
            </a:extLst>
          </p:cNvPr>
          <p:cNvSpPr txBox="1"/>
          <p:nvPr/>
        </p:nvSpPr>
        <p:spPr>
          <a:xfrm>
            <a:off x="8216987" y="5467350"/>
            <a:ext cx="336556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l-PL" sz="1400" dirty="0"/>
              <a:t>Szyfrowanie w spoczynku, kopie zapasowe, polityka retencji i usuwania</a:t>
            </a:r>
            <a:endParaRPr sz="1350" b="0" i="0" u="none" dirty="0">
              <a:solidFill>
                <a:srgbClr val="475569"/>
              </a:solidFill>
            </a:endParaRPr>
          </a:p>
        </p:txBody>
      </p:sp>
      <p:pic>
        <p:nvPicPr>
          <p:cNvPr id="46" name="Picture 5" descr="image.png">
            <a:extLst>
              <a:ext uri="{FF2B5EF4-FFF2-40B4-BE49-F238E27FC236}">
                <a16:creationId xmlns:a16="http://schemas.microsoft.com/office/drawing/2014/main" id="{2495250A-062A-5684-2735-87E449A94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705" y="4176713"/>
            <a:ext cx="457200" cy="457200"/>
          </a:xfrm>
          <a:prstGeom prst="rect">
            <a:avLst/>
          </a:prstGeom>
        </p:spPr>
      </p:pic>
      <p:sp>
        <p:nvSpPr>
          <p:cNvPr id="48" name="TextBox 11">
            <a:extLst>
              <a:ext uri="{FF2B5EF4-FFF2-40B4-BE49-F238E27FC236}">
                <a16:creationId xmlns:a16="http://schemas.microsoft.com/office/drawing/2014/main" id="{2022353C-BA92-46ED-B318-9C9F490826FE}"/>
              </a:ext>
            </a:extLst>
          </p:cNvPr>
          <p:cNvSpPr txBox="1"/>
          <p:nvPr/>
        </p:nvSpPr>
        <p:spPr>
          <a:xfrm>
            <a:off x="4373598" y="5291138"/>
            <a:ext cx="336556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</a:rPr>
              <a:t>Minimalizuj ryzyko kradzieży ciasteczek sesyjnych aplikacji (XSS).</a:t>
            </a:r>
          </a:p>
        </p:txBody>
      </p:sp>
      <p:sp>
        <p:nvSpPr>
          <p:cNvPr id="50" name="Rounded Rectangle 2">
            <a:extLst>
              <a:ext uri="{FF2B5EF4-FFF2-40B4-BE49-F238E27FC236}">
                <a16:creationId xmlns:a16="http://schemas.microsoft.com/office/drawing/2014/main" id="{08B53223-5A7B-C052-652C-DC9B8B03E875}"/>
              </a:ext>
            </a:extLst>
          </p:cNvPr>
          <p:cNvSpPr/>
          <p:nvPr/>
        </p:nvSpPr>
        <p:spPr>
          <a:xfrm>
            <a:off x="4481554" y="3948113"/>
            <a:ext cx="3454449" cy="24765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" descr="image.png">
            <a:extLst>
              <a:ext uri="{FF2B5EF4-FFF2-40B4-BE49-F238E27FC236}">
                <a16:creationId xmlns:a16="http://schemas.microsoft.com/office/drawing/2014/main" id="{BA637B9B-F709-6BCD-9184-CDF3465AF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05" y="4329113"/>
            <a:ext cx="457200" cy="457200"/>
          </a:xfrm>
          <a:prstGeom prst="rect">
            <a:avLst/>
          </a:prstGeom>
        </p:spPr>
      </p:pic>
      <p:sp>
        <p:nvSpPr>
          <p:cNvPr id="54" name="TextBox 10">
            <a:extLst>
              <a:ext uri="{FF2B5EF4-FFF2-40B4-BE49-F238E27FC236}">
                <a16:creationId xmlns:a16="http://schemas.microsoft.com/office/drawing/2014/main" id="{E1431344-6526-4226-DE67-3416E1F40EA6}"/>
              </a:ext>
            </a:extLst>
          </p:cNvPr>
          <p:cNvSpPr txBox="1"/>
          <p:nvPr/>
        </p:nvSpPr>
        <p:spPr>
          <a:xfrm>
            <a:off x="5457868" y="5014913"/>
            <a:ext cx="150182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pl-PL" b="1" dirty="0"/>
              <a:t>Serwer WWW:</a:t>
            </a:r>
            <a:endParaRPr sz="1800" b="1" i="0" u="none" dirty="0"/>
          </a:p>
        </p:txBody>
      </p:sp>
      <p:sp>
        <p:nvSpPr>
          <p:cNvPr id="56" name="TextBox 11">
            <a:extLst>
              <a:ext uri="{FF2B5EF4-FFF2-40B4-BE49-F238E27FC236}">
                <a16:creationId xmlns:a16="http://schemas.microsoft.com/office/drawing/2014/main" id="{8988277E-D426-8FDE-2F5B-2B13ED8B0AC8}"/>
              </a:ext>
            </a:extLst>
          </p:cNvPr>
          <p:cNvSpPr txBox="1"/>
          <p:nvPr/>
        </p:nvSpPr>
        <p:spPr>
          <a:xfrm>
            <a:off x="4525998" y="5443538"/>
            <a:ext cx="336556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l-PL" sz="1400" dirty="0"/>
              <a:t>Wyłączony interpreter skryptów w katalogu z plikami użytkowników</a:t>
            </a:r>
            <a:endParaRPr sz="1350" b="0" i="0" u="none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962150"/>
            <a:ext cx="10972800" cy="1133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324225"/>
            <a:ext cx="10972800" cy="1133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686300"/>
            <a:ext cx="10972800" cy="1133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962150"/>
            <a:ext cx="57150" cy="11334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24225"/>
            <a:ext cx="57150" cy="1133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86300"/>
            <a:ext cx="57150" cy="11334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376487"/>
            <a:ext cx="4572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738562"/>
            <a:ext cx="4572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5100637"/>
            <a:ext cx="4572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50" y="576560"/>
            <a:ext cx="552952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</a:rPr>
              <a:t>Warstwa</a:t>
            </a:r>
            <a:r>
              <a:rPr sz="3000" b="1" i="0" u="none" dirty="0">
                <a:solidFill>
                  <a:srgbClr val="0F172A"/>
                </a:solidFill>
              </a:rPr>
              <a:t> 3: </a:t>
            </a:r>
            <a:r>
              <a:rPr sz="3000" b="1" i="0" u="none" dirty="0" err="1">
                <a:solidFill>
                  <a:srgbClr val="0F172A"/>
                </a:solidFill>
              </a:rPr>
              <a:t>Środowisko</a:t>
            </a:r>
            <a:r>
              <a:rPr sz="3000" b="1" i="0" u="none" dirty="0">
                <a:solidFill>
                  <a:srgbClr val="0F172A"/>
                </a:solidFill>
              </a:rPr>
              <a:t> </a:t>
            </a:r>
            <a:r>
              <a:rPr sz="3000" b="1" i="0" u="none" dirty="0" err="1">
                <a:solidFill>
                  <a:srgbClr val="0F172A"/>
                </a:solidFill>
              </a:rPr>
              <a:t>detekcji</a:t>
            </a:r>
            <a:endParaRPr sz="3000" b="1" i="0" u="none" dirty="0">
              <a:solidFill>
                <a:srgbClr val="0F172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57350" y="2266950"/>
            <a:ext cx="5435847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0F172A"/>
                </a:solidFill>
              </a:rPr>
              <a:t>Asynchroniczne</a:t>
            </a:r>
            <a:r>
              <a:rPr sz="1650" b="1" i="0" u="none" dirty="0">
                <a:solidFill>
                  <a:srgbClr val="0F172A"/>
                </a:solidFill>
              </a:rPr>
              <a:t> </a:t>
            </a:r>
            <a:r>
              <a:rPr sz="1650" b="1" i="0" u="none" dirty="0" err="1">
                <a:solidFill>
                  <a:srgbClr val="0F172A"/>
                </a:solidFill>
              </a:rPr>
              <a:t>skanowanie</a:t>
            </a:r>
            <a:r>
              <a:rPr sz="1650" b="1" i="0" u="none" dirty="0">
                <a:solidFill>
                  <a:srgbClr val="0F172A"/>
                </a:solidFill>
              </a:rPr>
              <a:t> </a:t>
            </a:r>
            <a:r>
              <a:rPr sz="1650" b="1" i="0" u="none" dirty="0" err="1">
                <a:solidFill>
                  <a:srgbClr val="0F172A"/>
                </a:solidFill>
              </a:rPr>
              <a:t>złośliwego</a:t>
            </a:r>
            <a:r>
              <a:rPr sz="1650" b="1" i="0" u="none" dirty="0">
                <a:solidFill>
                  <a:srgbClr val="0F172A"/>
                </a:solidFill>
              </a:rPr>
              <a:t> </a:t>
            </a:r>
            <a:r>
              <a:rPr sz="1650" b="1" i="0" u="none" dirty="0" err="1">
                <a:solidFill>
                  <a:srgbClr val="0F172A"/>
                </a:solidFill>
              </a:rPr>
              <a:t>oprogramowania</a:t>
            </a:r>
            <a:endParaRPr sz="1650" b="1" i="0" u="none" dirty="0">
              <a:solidFill>
                <a:srgbClr val="0F172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7350" y="2590800"/>
            <a:ext cx="7028206" cy="4231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</a:rPr>
              <a:t>Rutynowa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weryfikacja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paczek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plików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bezpośrednio</a:t>
            </a:r>
            <a:r>
              <a:rPr sz="1350" b="0" i="0" u="none" dirty="0">
                <a:solidFill>
                  <a:srgbClr val="475569"/>
                </a:solidFill>
              </a:rPr>
              <a:t> w </a:t>
            </a:r>
            <a:r>
              <a:rPr sz="1350" b="0" i="0" u="none" dirty="0" err="1">
                <a:solidFill>
                  <a:srgbClr val="475569"/>
                </a:solidFill>
              </a:rPr>
              <a:t>środowisku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kwarantanny</a:t>
            </a:r>
            <a:r>
              <a:rPr sz="1350" b="0" i="0" u="none" dirty="0">
                <a:solidFill>
                  <a:srgbClr val="475569"/>
                </a:solidFill>
              </a:rPr>
              <a:t>.</a:t>
            </a:r>
            <a:endParaRPr lang="pl-PL" sz="1350" b="0" i="0" u="none" dirty="0">
              <a:solidFill>
                <a:srgbClr val="475569"/>
              </a:solidFill>
            </a:endParaRPr>
          </a:p>
          <a:p>
            <a:r>
              <a:rPr lang="pl-PL" sz="1400" dirty="0"/>
              <a:t>Skaner to jedna z warstw, nie gwarancja (nieznane </a:t>
            </a:r>
            <a:r>
              <a:rPr lang="pl-PL" sz="1400" dirty="0" err="1"/>
              <a:t>malware</a:t>
            </a:r>
            <a:r>
              <a:rPr lang="pl-PL" sz="1400" dirty="0"/>
              <a:t>, </a:t>
            </a:r>
            <a:r>
              <a:rPr lang="pl-PL" sz="1400" dirty="0" err="1"/>
              <a:t>obfuskacja</a:t>
            </a:r>
            <a:r>
              <a:rPr lang="pl-PL" sz="1400" dirty="0"/>
              <a:t>) → </a:t>
            </a:r>
            <a:r>
              <a:rPr lang="pl-PL" sz="1400" dirty="0" err="1"/>
              <a:t>defense</a:t>
            </a:r>
            <a:r>
              <a:rPr lang="pl-PL" sz="1400" dirty="0"/>
              <a:t> in </a:t>
            </a:r>
            <a:r>
              <a:rPr lang="pl-PL" sz="1400" dirty="0" err="1"/>
              <a:t>depth</a:t>
            </a:r>
            <a:r>
              <a:rPr lang="pl-PL" sz="1400" dirty="0"/>
              <a:t>.</a:t>
            </a:r>
            <a:endParaRPr sz="1350" b="0" i="0" u="none" dirty="0">
              <a:solidFill>
                <a:srgbClr val="475569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57350" y="3629025"/>
            <a:ext cx="330084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0F172A"/>
                </a:solidFill>
              </a:rPr>
              <a:t>Izolacja</a:t>
            </a:r>
            <a:r>
              <a:rPr sz="1650" b="1" i="0" u="none" dirty="0">
                <a:solidFill>
                  <a:srgbClr val="0F172A"/>
                </a:solidFill>
              </a:rPr>
              <a:t> w </a:t>
            </a:r>
            <a:r>
              <a:rPr sz="1650" b="1" i="0" u="none" dirty="0" err="1">
                <a:solidFill>
                  <a:srgbClr val="0F172A"/>
                </a:solidFill>
              </a:rPr>
              <a:t>bezpiecznym</a:t>
            </a:r>
            <a:r>
              <a:rPr sz="1650" b="1" i="0" u="none" dirty="0">
                <a:solidFill>
                  <a:srgbClr val="0F172A"/>
                </a:solidFill>
              </a:rPr>
              <a:t> </a:t>
            </a:r>
            <a:r>
              <a:rPr sz="1650" b="1" i="0" u="none" dirty="0" err="1">
                <a:solidFill>
                  <a:srgbClr val="0F172A"/>
                </a:solidFill>
              </a:rPr>
              <a:t>Sandboxie</a:t>
            </a:r>
            <a:endParaRPr sz="1650" b="1" i="0" u="none" dirty="0">
              <a:solidFill>
                <a:srgbClr val="0F172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57350" y="3952875"/>
            <a:ext cx="8861721" cy="4231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</a:rPr>
              <a:t>Odpalanie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nieznanych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skryptów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wykonywalnych</a:t>
            </a:r>
            <a:r>
              <a:rPr sz="1350" b="0" i="0" u="none" dirty="0">
                <a:solidFill>
                  <a:srgbClr val="475569"/>
                </a:solidFill>
              </a:rPr>
              <a:t> w </a:t>
            </a:r>
            <a:r>
              <a:rPr sz="1350" b="0" i="0" u="none" dirty="0" err="1">
                <a:solidFill>
                  <a:srgbClr val="475569"/>
                </a:solidFill>
              </a:rPr>
              <a:t>wysoce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kontrolowanym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środowisku</a:t>
            </a:r>
            <a:r>
              <a:rPr sz="1350" b="0" i="0" u="none" dirty="0">
                <a:solidFill>
                  <a:srgbClr val="475569"/>
                </a:solidFill>
              </a:rPr>
              <a:t>.</a:t>
            </a:r>
            <a:endParaRPr lang="pl-PL" sz="1350" b="0" i="0" u="none" dirty="0">
              <a:solidFill>
                <a:srgbClr val="475569"/>
              </a:solidFill>
            </a:endParaRPr>
          </a:p>
          <a:p>
            <a:r>
              <a:rPr lang="pl-PL" sz="1400" dirty="0"/>
              <a:t>Usługi zewnętrzne (np. </a:t>
            </a:r>
            <a:r>
              <a:rPr lang="pl-PL" sz="1400" dirty="0" err="1"/>
              <a:t>VirusTotal</a:t>
            </a:r>
            <a:r>
              <a:rPr lang="pl-PL" sz="1400" dirty="0"/>
              <a:t>): przesłany plik może być udostępniony innym → ryzyko wycieku poufnych danych. </a:t>
            </a:r>
            <a:endParaRPr sz="1350" b="0" i="0" u="none" dirty="0">
              <a:solidFill>
                <a:srgbClr val="47556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57350" y="4991100"/>
            <a:ext cx="2606804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0F172A"/>
                </a:solidFill>
              </a:rPr>
              <a:t>Odbudowa</a:t>
            </a:r>
            <a:r>
              <a:rPr sz="1650" b="1" i="0" u="none" dirty="0">
                <a:solidFill>
                  <a:srgbClr val="0F172A"/>
                </a:solidFill>
              </a:rPr>
              <a:t> </a:t>
            </a:r>
            <a:r>
              <a:rPr sz="1650" b="1" i="0" u="none" dirty="0" err="1">
                <a:solidFill>
                  <a:srgbClr val="0F172A"/>
                </a:solidFill>
              </a:rPr>
              <a:t>zawartości</a:t>
            </a:r>
            <a:r>
              <a:rPr sz="1650" b="1" i="0" u="none" dirty="0">
                <a:solidFill>
                  <a:srgbClr val="0F172A"/>
                </a:solidFill>
              </a:rPr>
              <a:t> CDR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7350" y="5314950"/>
            <a:ext cx="6116290" cy="4231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</a:rPr>
              <a:t>Usuwanie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ryzykownych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makr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i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całkowita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przebudowa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pliku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bazowego</a:t>
            </a:r>
            <a:r>
              <a:rPr sz="1350" b="0" i="0" u="none" dirty="0">
                <a:solidFill>
                  <a:srgbClr val="475569"/>
                </a:solidFill>
              </a:rPr>
              <a:t> </a:t>
            </a:r>
            <a:r>
              <a:rPr sz="1350" b="0" i="0" u="none" dirty="0" err="1">
                <a:solidFill>
                  <a:srgbClr val="475569"/>
                </a:solidFill>
              </a:rPr>
              <a:t>użytkownika</a:t>
            </a:r>
            <a:r>
              <a:rPr sz="1350" b="0" i="0" u="none" dirty="0">
                <a:solidFill>
                  <a:srgbClr val="475569"/>
                </a:solidFill>
              </a:rPr>
              <a:t>.</a:t>
            </a:r>
            <a:endParaRPr lang="pl-PL" sz="1350" b="0" i="0" u="none" dirty="0">
              <a:solidFill>
                <a:srgbClr val="475569"/>
              </a:solidFill>
            </a:endParaRPr>
          </a:p>
          <a:p>
            <a:r>
              <a:rPr lang="pl-PL" sz="1400" dirty="0"/>
              <a:t>Logowanie, alerty i procedura reakcji, gdy skan coś wykryje.</a:t>
            </a:r>
            <a:endParaRPr sz="1350" b="0" i="0" u="none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1" y="1395873"/>
            <a:ext cx="5334000" cy="4867275"/>
          </a:xfrm>
          <a:prstGeom prst="roundRect">
            <a:avLst>
              <a:gd name="adj" fmla="val 3131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381125"/>
            <a:ext cx="5334000" cy="4867275"/>
          </a:xfrm>
          <a:prstGeom prst="roundRect">
            <a:avLst>
              <a:gd name="adj" fmla="val 3131"/>
            </a:avLst>
          </a:prstGeom>
          <a:solidFill>
            <a:srgbClr val="DCFCE7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3450" y="2209800"/>
            <a:ext cx="4686300" cy="2514600"/>
          </a:xfrm>
          <a:prstGeom prst="roundRect">
            <a:avLst>
              <a:gd name="adj" fmla="val 303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72250" y="2209800"/>
            <a:ext cx="4686300" cy="3200400"/>
          </a:xfrm>
          <a:prstGeom prst="roundRect">
            <a:avLst>
              <a:gd name="adj" fmla="val 238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728787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1728787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527843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</a:rPr>
              <a:t>Wdrażanie</a:t>
            </a:r>
            <a:r>
              <a:rPr sz="3000" b="1" i="0" u="none" dirty="0">
                <a:solidFill>
                  <a:srgbClr val="0F172A"/>
                </a:solidFill>
              </a:rPr>
              <a:t> </a:t>
            </a:r>
            <a:r>
              <a:rPr sz="3000" b="1" i="0" u="none" dirty="0" err="1">
                <a:solidFill>
                  <a:srgbClr val="0F172A"/>
                </a:solidFill>
              </a:rPr>
              <a:t>reguł</a:t>
            </a:r>
            <a:r>
              <a:rPr sz="3000" b="1" i="0" u="none" dirty="0">
                <a:solidFill>
                  <a:srgbClr val="0F172A"/>
                </a:solidFill>
              </a:rPr>
              <a:t> w </a:t>
            </a:r>
            <a:r>
              <a:rPr sz="3000" b="1" i="0" u="none" dirty="0" err="1">
                <a:solidFill>
                  <a:srgbClr val="0F172A"/>
                </a:solidFill>
              </a:rPr>
              <a:t>backendzie</a:t>
            </a:r>
            <a:endParaRPr sz="3000" b="1" i="0" u="none" dirty="0">
              <a:solidFill>
                <a:srgbClr val="0F172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76350" y="1704588"/>
            <a:ext cx="153638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 dirty="0" err="1">
                <a:solidFill>
                  <a:srgbClr val="B91C1C"/>
                </a:solidFill>
              </a:rPr>
              <a:t>Krytyczny</a:t>
            </a:r>
            <a:r>
              <a:rPr sz="1800" b="1" i="0" u="none" dirty="0">
                <a:solidFill>
                  <a:srgbClr val="B91C1C"/>
                </a:solidFill>
              </a:rPr>
              <a:t> </a:t>
            </a:r>
            <a:r>
              <a:rPr sz="1800" b="1" i="0" u="none" dirty="0" err="1">
                <a:solidFill>
                  <a:srgbClr val="B91C1C"/>
                </a:solidFill>
              </a:rPr>
              <a:t>Błąd</a:t>
            </a:r>
            <a:endParaRPr sz="1800" b="1" i="0" u="none" dirty="0">
              <a:solidFill>
                <a:srgbClr val="B91C1C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2050" y="2438400"/>
            <a:ext cx="4324350" cy="2057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# ZŁE PODEJŚCIE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f = </a:t>
            </a:r>
            <a:r>
              <a:rPr sz="1125" b="0" i="0" u="none" dirty="0" err="1">
                <a:solidFill>
                  <a:srgbClr val="ABB2BF"/>
                </a:solidFill>
              </a:rPr>
              <a:t>request.files</a:t>
            </a:r>
            <a:r>
              <a:rPr sz="1125" b="0" i="0" u="none" dirty="0">
                <a:solidFill>
                  <a:srgbClr val="ABB2BF"/>
                </a:solidFill>
              </a:rPr>
              <a:t>["file"]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endParaRPr lang="pl-PL" sz="1125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# </a:t>
            </a:r>
            <a:r>
              <a:rPr sz="1125" b="0" i="0" u="none" dirty="0" err="1">
                <a:solidFill>
                  <a:srgbClr val="ABB2BF"/>
                </a:solidFill>
              </a:rPr>
              <a:t>Zapis</a:t>
            </a:r>
            <a:r>
              <a:rPr sz="1125" b="0" i="0" u="none" dirty="0">
                <a:solidFill>
                  <a:srgbClr val="ABB2BF"/>
                </a:solidFill>
              </a:rPr>
              <a:t> w </a:t>
            </a:r>
            <a:r>
              <a:rPr sz="1125" b="0" i="0" u="none" dirty="0" err="1">
                <a:solidFill>
                  <a:srgbClr val="ABB2BF"/>
                </a:solidFill>
              </a:rPr>
              <a:t>katalogu</a:t>
            </a:r>
            <a:r>
              <a:rPr sz="1125" b="0" i="0" u="none" dirty="0">
                <a:solidFill>
                  <a:srgbClr val="ABB2BF"/>
                </a:solidFill>
              </a:rPr>
              <a:t> </a:t>
            </a:r>
            <a:r>
              <a:rPr sz="1125" b="0" i="0" u="none" dirty="0" err="1">
                <a:solidFill>
                  <a:srgbClr val="ABB2BF"/>
                </a:solidFill>
              </a:rPr>
              <a:t>dostępnym</a:t>
            </a:r>
            <a:r>
              <a:rPr sz="1125" b="0" i="0" u="none" dirty="0">
                <a:solidFill>
                  <a:srgbClr val="ABB2BF"/>
                </a:solidFill>
              </a:rPr>
              <a:t> z </a:t>
            </a:r>
            <a:r>
              <a:rPr sz="1125" b="0" i="0" u="none" dirty="0" err="1">
                <a:solidFill>
                  <a:srgbClr val="ABB2BF"/>
                </a:solidFill>
              </a:rPr>
              <a:t>sieci</a:t>
            </a:r>
            <a:r>
              <a:rPr sz="1125" b="0" i="0" u="none" dirty="0">
                <a:solidFill>
                  <a:srgbClr val="ABB2BF"/>
                </a:solidFill>
              </a:rPr>
              <a:t> </a:t>
            </a:r>
            <a:endParaRPr lang="pl-PL" sz="1125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# Nazwa </a:t>
            </a:r>
            <a:r>
              <a:rPr sz="1125" b="0" i="0" u="none" dirty="0" err="1">
                <a:solidFill>
                  <a:srgbClr val="ABB2BF"/>
                </a:solidFill>
              </a:rPr>
              <a:t>bezpośrednio</a:t>
            </a:r>
            <a:r>
              <a:rPr sz="1125" b="0" i="0" u="none" dirty="0">
                <a:solidFill>
                  <a:srgbClr val="ABB2BF"/>
                </a:solidFill>
              </a:rPr>
              <a:t> od </a:t>
            </a:r>
            <a:r>
              <a:rPr sz="1125" b="0" i="0" u="none" dirty="0" err="1">
                <a:solidFill>
                  <a:srgbClr val="ABB2BF"/>
                </a:solidFill>
              </a:rPr>
              <a:t>klienta</a:t>
            </a:r>
            <a:r>
              <a:rPr sz="1125" b="0" i="0" u="none" dirty="0">
                <a:solidFill>
                  <a:srgbClr val="ABB2BF"/>
                </a:solidFill>
              </a:rPr>
              <a:t>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 err="1">
                <a:solidFill>
                  <a:srgbClr val="ABB2BF"/>
                </a:solidFill>
              </a:rPr>
              <a:t>f.save</a:t>
            </a:r>
            <a:r>
              <a:rPr sz="1125" b="0" i="0" u="none" dirty="0">
                <a:solidFill>
                  <a:srgbClr val="ABB2BF"/>
                </a:solidFill>
              </a:rPr>
              <a:t>("/var/www/uploads/" + </a:t>
            </a:r>
            <a:r>
              <a:rPr sz="1125" b="0" i="0" u="none" dirty="0" err="1">
                <a:solidFill>
                  <a:srgbClr val="ABB2BF"/>
                </a:solidFill>
              </a:rPr>
              <a:t>f.filename</a:t>
            </a:r>
            <a:r>
              <a:rPr sz="1125" b="0" i="0" u="none" dirty="0">
                <a:solidFill>
                  <a:srgbClr val="ABB2BF"/>
                </a:solidFill>
              </a:rPr>
              <a:t>)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endParaRPr lang="pl-PL" sz="1125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# Brak </a:t>
            </a:r>
            <a:r>
              <a:rPr sz="1125" b="0" i="0" u="none" dirty="0" err="1">
                <a:solidFill>
                  <a:srgbClr val="ABB2BF"/>
                </a:solidFill>
              </a:rPr>
              <a:t>jakichkolwiek</a:t>
            </a:r>
            <a:r>
              <a:rPr sz="1125" b="0" i="0" u="none" dirty="0">
                <a:solidFill>
                  <a:srgbClr val="ABB2BF"/>
                </a:solidFill>
              </a:rPr>
              <a:t> </a:t>
            </a:r>
            <a:r>
              <a:rPr sz="1125" b="0" i="0" u="none" dirty="0" err="1">
                <a:solidFill>
                  <a:srgbClr val="ABB2BF"/>
                </a:solidFill>
              </a:rPr>
              <a:t>limitów</a:t>
            </a:r>
            <a:r>
              <a:rPr sz="1125" b="0" i="0" u="none" dirty="0">
                <a:solidFill>
                  <a:srgbClr val="ABB2BF"/>
                </a:solidFill>
              </a:rPr>
              <a:t> </a:t>
            </a:r>
            <a:r>
              <a:rPr sz="1125" b="0" i="0" u="none" dirty="0" err="1">
                <a:solidFill>
                  <a:srgbClr val="ABB2BF"/>
                </a:solidFill>
              </a:rPr>
              <a:t>rozmiaru</a:t>
            </a:r>
            <a:r>
              <a:rPr sz="1125" b="0" i="0" u="none" dirty="0">
                <a:solidFill>
                  <a:srgbClr val="ABB2BF"/>
                </a:solidFill>
              </a:rPr>
              <a:t>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# Brak </a:t>
            </a:r>
            <a:r>
              <a:rPr sz="1125" b="0" i="0" u="none" dirty="0" err="1">
                <a:solidFill>
                  <a:srgbClr val="ABB2BF"/>
                </a:solidFill>
              </a:rPr>
              <a:t>skanowania</a:t>
            </a:r>
            <a:r>
              <a:rPr sz="1125" b="0" i="0" u="none" dirty="0">
                <a:solidFill>
                  <a:srgbClr val="ABB2BF"/>
                </a:solidFill>
              </a:rPr>
              <a:t> </a:t>
            </a:r>
            <a:r>
              <a:rPr sz="1125" b="0" i="0" u="none" dirty="0" err="1">
                <a:solidFill>
                  <a:srgbClr val="ABB2BF"/>
                </a:solidFill>
              </a:rPr>
              <a:t>zawartości</a:t>
            </a:r>
            <a:endParaRPr sz="1125" b="0" i="0" u="none" dirty="0">
              <a:solidFill>
                <a:srgbClr val="ABB2B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15150" y="1704588"/>
            <a:ext cx="244560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 dirty="0" err="1">
                <a:solidFill>
                  <a:srgbClr val="15803D"/>
                </a:solidFill>
              </a:rPr>
              <a:t>Ograniczanie</a:t>
            </a:r>
            <a:r>
              <a:rPr sz="1800" b="1" i="0" u="none" dirty="0">
                <a:solidFill>
                  <a:srgbClr val="15803D"/>
                </a:solidFill>
              </a:rPr>
              <a:t> </a:t>
            </a:r>
            <a:r>
              <a:rPr sz="1800" b="1" i="0" u="none" dirty="0" err="1">
                <a:solidFill>
                  <a:srgbClr val="15803D"/>
                </a:solidFill>
              </a:rPr>
              <a:t>wektorów</a:t>
            </a:r>
            <a:endParaRPr sz="1800" b="1" i="0" u="none" dirty="0">
              <a:solidFill>
                <a:srgbClr val="15803D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00850" y="2438400"/>
            <a:ext cx="4324350" cy="251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# DOBRE PODEJŚCIE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ALLOWED = {".</a:t>
            </a:r>
            <a:r>
              <a:rPr sz="1125" b="0" i="0" u="none" dirty="0" err="1">
                <a:solidFill>
                  <a:srgbClr val="ABB2BF"/>
                </a:solidFill>
              </a:rPr>
              <a:t>png</a:t>
            </a:r>
            <a:r>
              <a:rPr sz="1125" b="0" i="0" u="none" dirty="0">
                <a:solidFill>
                  <a:srgbClr val="ABB2BF"/>
                </a:solidFill>
              </a:rPr>
              <a:t>": b"\x89PNG", ".pdf": </a:t>
            </a:r>
            <a:r>
              <a:rPr sz="1125" b="0" i="0" u="none" dirty="0" err="1">
                <a:solidFill>
                  <a:srgbClr val="ABB2BF"/>
                </a:solidFill>
              </a:rPr>
              <a:t>b"%PDF</a:t>
            </a:r>
            <a:r>
              <a:rPr sz="1125" b="0" i="0" u="none" dirty="0">
                <a:solidFill>
                  <a:srgbClr val="ABB2BF"/>
                </a:solidFill>
              </a:rPr>
              <a:t>"}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 err="1">
                <a:solidFill>
                  <a:srgbClr val="ABB2BF"/>
                </a:solidFill>
              </a:rPr>
              <a:t>ext</a:t>
            </a:r>
            <a:r>
              <a:rPr sz="1125" b="0" i="0" u="none" dirty="0">
                <a:solidFill>
                  <a:srgbClr val="ABB2BF"/>
                </a:solidFill>
              </a:rPr>
              <a:t> = Path(</a:t>
            </a:r>
            <a:r>
              <a:rPr sz="1125" b="0" i="0" u="none" dirty="0" err="1">
                <a:solidFill>
                  <a:srgbClr val="ABB2BF"/>
                </a:solidFill>
              </a:rPr>
              <a:t>f.filename</a:t>
            </a:r>
            <a:r>
              <a:rPr sz="1125" b="0" i="0" u="none" dirty="0">
                <a:solidFill>
                  <a:srgbClr val="ABB2BF"/>
                </a:solidFill>
              </a:rPr>
              <a:t>).</a:t>
            </a:r>
            <a:r>
              <a:rPr sz="1125" b="0" i="0" u="none" dirty="0" err="1">
                <a:solidFill>
                  <a:srgbClr val="ABB2BF"/>
                </a:solidFill>
              </a:rPr>
              <a:t>suffix.lower</a:t>
            </a:r>
            <a:r>
              <a:rPr sz="1125" b="0" i="0" u="none" dirty="0">
                <a:solidFill>
                  <a:srgbClr val="ABB2BF"/>
                </a:solidFill>
              </a:rPr>
              <a:t>()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if </a:t>
            </a:r>
            <a:r>
              <a:rPr sz="1125" b="0" i="0" u="none" dirty="0" err="1">
                <a:solidFill>
                  <a:srgbClr val="ABB2BF"/>
                </a:solidFill>
              </a:rPr>
              <a:t>ext</a:t>
            </a:r>
            <a:r>
              <a:rPr sz="1125" b="0" i="0" u="none" dirty="0">
                <a:solidFill>
                  <a:srgbClr val="ABB2BF"/>
                </a:solidFill>
              </a:rPr>
              <a:t> not in ALLOWED: abort(400)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endParaRPr lang="pl-PL" sz="1125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data = </a:t>
            </a:r>
            <a:r>
              <a:rPr sz="1125" b="0" i="0" u="none" dirty="0" err="1">
                <a:solidFill>
                  <a:srgbClr val="ABB2BF"/>
                </a:solidFill>
              </a:rPr>
              <a:t>f.read</a:t>
            </a:r>
            <a:r>
              <a:rPr sz="1125" b="0" i="0" u="none" dirty="0">
                <a:solidFill>
                  <a:srgbClr val="ABB2BF"/>
                </a:solidFill>
              </a:rPr>
              <a:t>(MAX_SIZE + 1)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if </a:t>
            </a:r>
            <a:r>
              <a:rPr sz="1125" b="0" i="0" u="none" dirty="0" err="1">
                <a:solidFill>
                  <a:srgbClr val="ABB2BF"/>
                </a:solidFill>
              </a:rPr>
              <a:t>len</a:t>
            </a:r>
            <a:r>
              <a:rPr sz="1125" b="0" i="0" u="none" dirty="0">
                <a:solidFill>
                  <a:srgbClr val="ABB2BF"/>
                </a:solidFill>
              </a:rPr>
              <a:t>(data) &gt; MAX_SIZE: abort(413)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if not </a:t>
            </a:r>
            <a:r>
              <a:rPr sz="1125" b="0" i="0" u="none" dirty="0" err="1">
                <a:solidFill>
                  <a:srgbClr val="ABB2BF"/>
                </a:solidFill>
              </a:rPr>
              <a:t>data.startswith</a:t>
            </a:r>
            <a:r>
              <a:rPr sz="1125" b="0" i="0" u="none" dirty="0">
                <a:solidFill>
                  <a:srgbClr val="ABB2BF"/>
                </a:solidFill>
              </a:rPr>
              <a:t>(ALLOWED[</a:t>
            </a:r>
            <a:r>
              <a:rPr sz="1125" b="0" i="0" u="none" dirty="0" err="1">
                <a:solidFill>
                  <a:srgbClr val="ABB2BF"/>
                </a:solidFill>
              </a:rPr>
              <a:t>ext</a:t>
            </a:r>
            <a:r>
              <a:rPr sz="1125" b="0" i="0" u="none" dirty="0">
                <a:solidFill>
                  <a:srgbClr val="ABB2BF"/>
                </a:solidFill>
              </a:rPr>
              <a:t>]): abort(400)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endParaRPr lang="pl-PL" sz="1125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name = uuid4().hex + </a:t>
            </a:r>
            <a:r>
              <a:rPr sz="1125" b="0" i="0" u="none" dirty="0" err="1">
                <a:solidFill>
                  <a:srgbClr val="ABB2BF"/>
                </a:solidFill>
              </a:rPr>
              <a:t>ext</a:t>
            </a:r>
            <a:r>
              <a:rPr sz="1125" b="0" i="0" u="none" dirty="0">
                <a:solidFill>
                  <a:srgbClr val="ABB2BF"/>
                </a:solidFill>
              </a:rPr>
              <a:t> </a:t>
            </a:r>
            <a:endParaRPr lang="pl-PL" sz="1125" b="0" i="0" u="none" dirty="0">
              <a:solidFill>
                <a:srgbClr val="ABB2BF"/>
              </a:solidFill>
            </a:endParaRPr>
          </a:p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ABB2BF"/>
                </a:solidFill>
              </a:rPr>
              <a:t>(QUARANTINE_DIR / name).</a:t>
            </a:r>
            <a:r>
              <a:rPr sz="1125" b="0" i="0" u="none" dirty="0" err="1">
                <a:solidFill>
                  <a:srgbClr val="ABB2BF"/>
                </a:solidFill>
              </a:rPr>
              <a:t>write_bytes</a:t>
            </a:r>
            <a:r>
              <a:rPr sz="1125" b="0" i="0" u="none" dirty="0">
                <a:solidFill>
                  <a:srgbClr val="ABB2BF"/>
                </a:solidFill>
              </a:rPr>
              <a:t>(data)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909762"/>
            <a:ext cx="5181600" cy="1143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09600" y="3281362"/>
            <a:ext cx="5181600" cy="1143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7700" y="4652962"/>
            <a:ext cx="5181600" cy="1143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909762"/>
            <a:ext cx="38100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281362"/>
            <a:ext cx="38100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52962"/>
            <a:ext cx="38100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6300" y="2066924"/>
            <a:ext cx="285501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</a:rPr>
              <a:t>Brak </a:t>
            </a:r>
            <a:r>
              <a:rPr sz="1500" b="1" i="0" u="none" dirty="0" err="1">
                <a:solidFill>
                  <a:srgbClr val="0F172A"/>
                </a:solidFill>
              </a:rPr>
              <a:t>zaufania</a:t>
            </a:r>
            <a:r>
              <a:rPr sz="1500" b="1" i="0" u="none" dirty="0">
                <a:solidFill>
                  <a:srgbClr val="0F172A"/>
                </a:solidFill>
              </a:rPr>
              <a:t> do </a:t>
            </a:r>
            <a:r>
              <a:rPr sz="1500" b="1" i="0" u="none" dirty="0" err="1">
                <a:solidFill>
                  <a:srgbClr val="0F172A"/>
                </a:solidFill>
              </a:rPr>
              <a:t>aplikacji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klienta</a:t>
            </a:r>
            <a:endParaRPr sz="1500" b="1" i="0" u="none" dirty="0">
              <a:solidFill>
                <a:srgbClr val="0F172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300" y="2443162"/>
            <a:ext cx="4781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</a:rPr>
              <a:t>Logika po </a:t>
            </a:r>
            <a:r>
              <a:rPr sz="1200" b="0" i="0" u="none" dirty="0" err="1">
                <a:solidFill>
                  <a:srgbClr val="475569"/>
                </a:solidFill>
              </a:rPr>
              <a:t>stronie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apki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mobilnej</a:t>
            </a:r>
            <a:r>
              <a:rPr sz="1200" b="0" i="0" u="none" dirty="0">
                <a:solidFill>
                  <a:srgbClr val="475569"/>
                </a:solidFill>
              </a:rPr>
              <a:t> jest </a:t>
            </a:r>
            <a:r>
              <a:rPr sz="1200" b="0" i="0" u="none" dirty="0" err="1">
                <a:solidFill>
                  <a:srgbClr val="475569"/>
                </a:solidFill>
              </a:rPr>
              <a:t>banalna</a:t>
            </a:r>
            <a:r>
              <a:rPr sz="1200" b="0" i="0" u="none" dirty="0">
                <a:solidFill>
                  <a:srgbClr val="475569"/>
                </a:solidFill>
              </a:rPr>
              <a:t> do </a:t>
            </a:r>
            <a:r>
              <a:rPr sz="1200" b="0" i="0" u="none" dirty="0" err="1">
                <a:solidFill>
                  <a:srgbClr val="475569"/>
                </a:solidFill>
              </a:rPr>
              <a:t>zmanipulowania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przez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serwery</a:t>
            </a:r>
            <a:r>
              <a:rPr sz="1200" b="0" i="0" u="none" dirty="0">
                <a:solidFill>
                  <a:srgbClr val="475569"/>
                </a:solidFill>
              </a:rPr>
              <a:t> proxy.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33762"/>
            <a:ext cx="304076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Restrykcje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uprawnień</a:t>
            </a:r>
            <a:r>
              <a:rPr sz="1500" b="1" i="0" u="none" dirty="0">
                <a:solidFill>
                  <a:srgbClr val="0F172A"/>
                </a:solidFill>
              </a:rPr>
              <a:t> w </a:t>
            </a:r>
            <a:r>
              <a:rPr sz="1500" b="1" i="0" u="none" dirty="0" err="1">
                <a:solidFill>
                  <a:srgbClr val="0F172A"/>
                </a:solidFill>
              </a:rPr>
              <a:t>Androidzie</a:t>
            </a:r>
            <a:endParaRPr sz="1500" b="1" i="0" u="none" dirty="0">
              <a:solidFill>
                <a:srgbClr val="0F172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6300" y="3814762"/>
            <a:ext cx="4781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475569"/>
                </a:solidFill>
              </a:rPr>
              <a:t>Korzystaj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wyłącznie</a:t>
            </a:r>
            <a:r>
              <a:rPr sz="1200" b="0" i="0" u="none" dirty="0">
                <a:solidFill>
                  <a:srgbClr val="475569"/>
                </a:solidFill>
              </a:rPr>
              <a:t> z </a:t>
            </a:r>
            <a:r>
              <a:rPr sz="1200" b="0" i="0" u="none" dirty="0" err="1">
                <a:solidFill>
                  <a:srgbClr val="475569"/>
                </a:solidFill>
              </a:rPr>
              <a:t>instancji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FileProvider</a:t>
            </a:r>
            <a:r>
              <a:rPr sz="1200" b="0" i="0" u="none" dirty="0">
                <a:solidFill>
                  <a:srgbClr val="475569"/>
                </a:solidFill>
              </a:rPr>
              <a:t> do </a:t>
            </a:r>
            <a:r>
              <a:rPr sz="1200" b="0" i="0" u="none" dirty="0" err="1">
                <a:solidFill>
                  <a:srgbClr val="475569"/>
                </a:solidFill>
              </a:rPr>
              <a:t>udostępniania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i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nadawania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uprawnień</a:t>
            </a:r>
            <a:r>
              <a:rPr sz="1200" b="0" i="0" u="none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729162"/>
            <a:ext cx="273183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Usunięcie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pozycjonowania</a:t>
            </a:r>
            <a:r>
              <a:rPr sz="1500" b="1" i="0" u="none" dirty="0">
                <a:solidFill>
                  <a:srgbClr val="0F172A"/>
                </a:solidFill>
              </a:rPr>
              <a:t> GPS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5186362"/>
            <a:ext cx="4781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475569"/>
                </a:solidFill>
              </a:rPr>
              <a:t>Standardowa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anonimizacja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plików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powinna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usuwać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wrażliwe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powiązania</a:t>
            </a:r>
            <a:r>
              <a:rPr sz="1200" b="0" i="0" u="none" dirty="0">
                <a:solidFill>
                  <a:srgbClr val="475569"/>
                </a:solidFill>
              </a:rPr>
              <a:t> </a:t>
            </a:r>
            <a:r>
              <a:rPr sz="1200" b="0" i="0" u="none" dirty="0" err="1">
                <a:solidFill>
                  <a:srgbClr val="475569"/>
                </a:solidFill>
              </a:rPr>
              <a:t>danych</a:t>
            </a:r>
            <a:r>
              <a:rPr sz="1200" b="0" i="0" u="none" dirty="0">
                <a:solidFill>
                  <a:srgbClr val="475569"/>
                </a:solidFill>
              </a:rPr>
              <a:t> z EXIF.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43484A12-47DC-ECAF-2BB5-C56A7FE8B6DE}"/>
              </a:ext>
            </a:extLst>
          </p:cNvPr>
          <p:cNvSpPr/>
          <p:nvPr/>
        </p:nvSpPr>
        <p:spPr>
          <a:xfrm>
            <a:off x="6629400" y="2519362"/>
            <a:ext cx="5181600" cy="1143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1200" b="1" dirty="0" err="1">
                <a:solidFill>
                  <a:schemeClr val="tx1"/>
                </a:solidFill>
              </a:rPr>
              <a:t>WebView</a:t>
            </a:r>
            <a:r>
              <a:rPr lang="pl-PL" sz="1200" b="1" dirty="0">
                <a:solidFill>
                  <a:schemeClr val="tx1"/>
                </a:solidFill>
              </a:rPr>
              <a:t>:</a:t>
            </a:r>
          </a:p>
          <a:p>
            <a:endParaRPr lang="pl-PL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l-PL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Wyłącz </a:t>
            </a:r>
            <a:r>
              <a:rPr lang="pl-PL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setAllowFileAccess</a:t>
            </a:r>
            <a:r>
              <a:rPr lang="pl-PL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jeśli nie jest potrzebny, i nie otwieraj niezaufanych plików przez file://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25D2A356-5F42-9B7C-EFB8-FF44E0FD7F62}"/>
              </a:ext>
            </a:extLst>
          </p:cNvPr>
          <p:cNvSpPr/>
          <p:nvPr/>
        </p:nvSpPr>
        <p:spPr>
          <a:xfrm>
            <a:off x="6629400" y="2519362"/>
            <a:ext cx="38100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A555D9CC-A24F-C292-B7FD-15A5110F2E83}"/>
              </a:ext>
            </a:extLst>
          </p:cNvPr>
          <p:cNvSpPr/>
          <p:nvPr/>
        </p:nvSpPr>
        <p:spPr>
          <a:xfrm>
            <a:off x="6629400" y="4043362"/>
            <a:ext cx="5181600" cy="1143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1200" b="1" dirty="0" err="1">
                <a:solidFill>
                  <a:schemeClr val="tx1"/>
                </a:solidFill>
              </a:rPr>
              <a:t>Pre-signed</a:t>
            </a:r>
            <a:r>
              <a:rPr lang="pl-PL" sz="1200" b="1" dirty="0">
                <a:solidFill>
                  <a:schemeClr val="tx1"/>
                </a:solidFill>
              </a:rPr>
              <a:t> URL:</a:t>
            </a:r>
          </a:p>
          <a:p>
            <a:endParaRPr lang="pl-PL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l-PL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Upload</a:t>
            </a:r>
            <a:r>
              <a:rPr lang="pl-PL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bezpośrednio do chmury przez </a:t>
            </a:r>
            <a:r>
              <a:rPr lang="pl-PL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pre-signed</a:t>
            </a:r>
            <a:r>
              <a:rPr lang="pl-PL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URL z ograniczeniem typu i rozmiaru oraz krótkim czasem ważności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BBFCE028-DE49-C0CB-E15A-2526CE4527DD}"/>
              </a:ext>
            </a:extLst>
          </p:cNvPr>
          <p:cNvSpPr/>
          <p:nvPr/>
        </p:nvSpPr>
        <p:spPr>
          <a:xfrm>
            <a:off x="6629400" y="4043362"/>
            <a:ext cx="38100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rostokąt 27">
            <a:extLst>
              <a:ext uri="{FF2B5EF4-FFF2-40B4-BE49-F238E27FC236}">
                <a16:creationId xmlns:a16="http://schemas.microsoft.com/office/drawing/2014/main" id="{116740DA-A5B4-A51A-513A-F77951592605}"/>
              </a:ext>
            </a:extLst>
          </p:cNvPr>
          <p:cNvSpPr/>
          <p:nvPr/>
        </p:nvSpPr>
        <p:spPr>
          <a:xfrm>
            <a:off x="0" y="0"/>
            <a:ext cx="12192000" cy="16049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4400" b="1" dirty="0">
                <a:solidFill>
                  <a:srgbClr val="0F172A"/>
                </a:solidFill>
              </a:rPr>
              <a:t>Ochrona specyfiki mobilnej</a:t>
            </a:r>
          </a:p>
          <a:p>
            <a:pPr algn="ctr"/>
            <a:endParaRPr lang="pl-PL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33525"/>
            <a:ext cx="5334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33625"/>
            <a:ext cx="5334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133725"/>
            <a:ext cx="5334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33825"/>
            <a:ext cx="5334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1533525"/>
            <a:ext cx="5334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8400" y="2333625"/>
            <a:ext cx="5334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48400" y="3133725"/>
            <a:ext cx="5334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48400" y="3933825"/>
            <a:ext cx="5334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714500"/>
            <a:ext cx="20002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514600"/>
            <a:ext cx="2000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314700"/>
            <a:ext cx="20002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114800"/>
            <a:ext cx="20002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1714500"/>
            <a:ext cx="200025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514600"/>
            <a:ext cx="2000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314700"/>
            <a:ext cx="2000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4114800"/>
            <a:ext cx="2000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09600"/>
            <a:ext cx="593861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</a:rPr>
              <a:t>Checklista</a:t>
            </a:r>
            <a:r>
              <a:rPr sz="3000" b="1" i="0" u="none" dirty="0">
                <a:solidFill>
                  <a:srgbClr val="0F172A"/>
                </a:solidFill>
              </a:rPr>
              <a:t> </a:t>
            </a:r>
            <a:r>
              <a:rPr sz="3000" b="1" i="0" u="none" dirty="0" err="1">
                <a:solidFill>
                  <a:srgbClr val="0F172A"/>
                </a:solidFill>
              </a:rPr>
              <a:t>Bezpiecznego</a:t>
            </a:r>
            <a:r>
              <a:rPr sz="3000" b="1" i="0" u="none" dirty="0">
                <a:solidFill>
                  <a:srgbClr val="0F172A"/>
                </a:solidFill>
              </a:rPr>
              <a:t> </a:t>
            </a:r>
            <a:r>
              <a:rPr sz="3000" b="1" i="0" u="none" dirty="0" err="1">
                <a:solidFill>
                  <a:srgbClr val="0F172A"/>
                </a:solidFill>
              </a:rPr>
              <a:t>Uploadu</a:t>
            </a:r>
            <a:endParaRPr sz="3000" b="1" i="0" u="none" dirty="0">
              <a:solidFill>
                <a:srgbClr val="0F172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2525" y="1724025"/>
            <a:ext cx="46958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Weryfikacja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rygorystyczną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allowlistą</a:t>
            </a:r>
            <a:r>
              <a:rPr sz="1500" b="1" i="0" u="none" dirty="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525" y="2524125"/>
            <a:ext cx="46958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Sprawdzanie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sygnatur</a:t>
            </a:r>
            <a:r>
              <a:rPr sz="1500" b="1" i="0" u="none" dirty="0">
                <a:solidFill>
                  <a:srgbClr val="0F172A"/>
                </a:solidFill>
              </a:rPr>
              <a:t> "magic bytes".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3324225"/>
            <a:ext cx="46958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Zastosowanie</a:t>
            </a:r>
            <a:r>
              <a:rPr sz="1500" b="1" i="0" u="none" dirty="0">
                <a:solidFill>
                  <a:srgbClr val="0F172A"/>
                </a:solidFill>
              </a:rPr>
              <a:t> UUID </a:t>
            </a:r>
            <a:r>
              <a:rPr sz="1500" b="1" i="0" u="none" dirty="0" err="1">
                <a:solidFill>
                  <a:srgbClr val="0F172A"/>
                </a:solidFill>
              </a:rPr>
              <a:t>na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serwerze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docelowym</a:t>
            </a:r>
            <a:r>
              <a:rPr sz="1500" b="1" i="0" u="none" dirty="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525" y="4124325"/>
            <a:ext cx="46958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Skuteczna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rekompresja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dla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obrazów</a:t>
            </a:r>
            <a:r>
              <a:rPr sz="1500" b="1" i="0" u="none" dirty="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1325" y="1724025"/>
            <a:ext cx="46958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Zewnętrzny</a:t>
            </a:r>
            <a:r>
              <a:rPr sz="1500" b="1" i="0" u="none" dirty="0">
                <a:solidFill>
                  <a:srgbClr val="0F172A"/>
                </a:solidFill>
              </a:rPr>
              <a:t>, </a:t>
            </a:r>
            <a:r>
              <a:rPr sz="1500" b="1" i="0" u="none" dirty="0" err="1">
                <a:solidFill>
                  <a:srgbClr val="0F172A"/>
                </a:solidFill>
              </a:rPr>
              <a:t>hermetyczny</a:t>
            </a:r>
            <a:r>
              <a:rPr sz="1500" b="1" i="0" u="none" dirty="0">
                <a:solidFill>
                  <a:srgbClr val="0F172A"/>
                </a:solidFill>
              </a:rPr>
              <a:t> object storage.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1325" y="2524125"/>
            <a:ext cx="46958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Zablokowanie</a:t>
            </a:r>
            <a:r>
              <a:rPr sz="1500" b="1" i="0" u="none" dirty="0">
                <a:solidFill>
                  <a:srgbClr val="0F172A"/>
                </a:solidFill>
              </a:rPr>
              <a:t> MIME sniffing w </a:t>
            </a:r>
            <a:r>
              <a:rPr sz="1500" b="1" i="0" u="none" dirty="0" err="1">
                <a:solidFill>
                  <a:srgbClr val="0F172A"/>
                </a:solidFill>
              </a:rPr>
              <a:t>nagłówkach</a:t>
            </a:r>
            <a:r>
              <a:rPr sz="1500" b="1" i="0" u="none" dirty="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1325" y="3324225"/>
            <a:ext cx="46958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Bariera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kwarantanny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przed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udostępnieniem</a:t>
            </a:r>
            <a:r>
              <a:rPr sz="1500" b="1" i="0" u="none" dirty="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1325" y="4124325"/>
            <a:ext cx="46958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Agresywny</a:t>
            </a:r>
            <a:r>
              <a:rPr sz="1500" b="1" i="0" u="none" dirty="0">
                <a:solidFill>
                  <a:srgbClr val="0F172A"/>
                </a:solidFill>
              </a:rPr>
              <a:t> rate limiting </a:t>
            </a:r>
            <a:r>
              <a:rPr sz="1500" b="1" i="0" u="none" dirty="0" err="1">
                <a:solidFill>
                  <a:srgbClr val="0F172A"/>
                </a:solidFill>
              </a:rPr>
              <a:t>usług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sieciowych</a:t>
            </a:r>
            <a:r>
              <a:rPr sz="1500" b="1" i="0" u="none" dirty="0">
                <a:solidFill>
                  <a:srgbClr val="0F172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8DBF98E-5535-7CE7-BFBD-B0F5D635B6B3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PODSUMOWANIE: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Każdy</a:t>
            </a:r>
            <a:r>
              <a:rPr lang="en-US" sz="2000" dirty="0"/>
              <a:t> </a:t>
            </a:r>
            <a:r>
              <a:rPr lang="en-US" sz="2000" dirty="0" err="1"/>
              <a:t>przesłany</a:t>
            </a:r>
            <a:r>
              <a:rPr lang="en-US" sz="2000" dirty="0"/>
              <a:t> </a:t>
            </a:r>
            <a:r>
              <a:rPr lang="en-US" sz="2000" dirty="0" err="1"/>
              <a:t>plik</a:t>
            </a:r>
            <a:r>
              <a:rPr lang="en-US" sz="2000" dirty="0"/>
              <a:t> jest </a:t>
            </a:r>
            <a:r>
              <a:rPr lang="en-US" sz="2000" dirty="0" err="1"/>
              <a:t>niezaufany</a:t>
            </a:r>
            <a:r>
              <a:rPr lang="en-US" sz="2000" dirty="0"/>
              <a:t>, </a:t>
            </a:r>
            <a:r>
              <a:rPr lang="en-US" sz="2000" dirty="0" err="1"/>
              <a:t>także</a:t>
            </a:r>
            <a:r>
              <a:rPr lang="en-US" sz="2000" dirty="0"/>
              <a:t> </a:t>
            </a:r>
            <a:r>
              <a:rPr lang="en-US" sz="2000" dirty="0" err="1"/>
              <a:t>nazwa</a:t>
            </a:r>
            <a:r>
              <a:rPr lang="en-US" sz="2000" dirty="0"/>
              <a:t>, </a:t>
            </a:r>
            <a:r>
              <a:rPr lang="en-US" sz="2000" dirty="0" err="1"/>
              <a:t>typ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metadane</a:t>
            </a:r>
            <a:r>
              <a:rPr lang="en-US" sz="2000" dirty="0"/>
              <a:t>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Jedna</a:t>
            </a:r>
            <a:r>
              <a:rPr lang="en-US" sz="2000" dirty="0"/>
              <a:t> </a:t>
            </a:r>
            <a:r>
              <a:rPr lang="en-US" sz="2000" dirty="0" err="1"/>
              <a:t>kontrola</a:t>
            </a:r>
            <a:r>
              <a:rPr lang="en-US" sz="2000" dirty="0"/>
              <a:t> </a:t>
            </a:r>
            <a:r>
              <a:rPr lang="en-US" sz="2000" dirty="0" err="1"/>
              <a:t>nie</a:t>
            </a:r>
            <a:r>
              <a:rPr lang="en-US" sz="2000" dirty="0"/>
              <a:t> </a:t>
            </a:r>
            <a:r>
              <a:rPr lang="en-US" sz="2000" dirty="0" err="1"/>
              <a:t>wystarczy</a:t>
            </a:r>
            <a:r>
              <a:rPr lang="en-US" sz="2000" dirty="0"/>
              <a:t>: </a:t>
            </a:r>
            <a:r>
              <a:rPr lang="en-US" sz="2000" dirty="0" err="1"/>
              <a:t>walidacja</a:t>
            </a:r>
            <a:r>
              <a:rPr lang="en-US" sz="2000" dirty="0"/>
              <a:t> + </a:t>
            </a:r>
            <a:r>
              <a:rPr lang="en-US" sz="2000" dirty="0" err="1"/>
              <a:t>izolacja</a:t>
            </a:r>
            <a:r>
              <a:rPr lang="en-US" sz="2000" dirty="0"/>
              <a:t> + </a:t>
            </a:r>
            <a:r>
              <a:rPr lang="en-US" sz="2000" dirty="0" err="1"/>
              <a:t>skanowanie</a:t>
            </a:r>
            <a:r>
              <a:rPr lang="en-US" sz="2000" dirty="0"/>
              <a:t> + </a:t>
            </a:r>
            <a:r>
              <a:rPr lang="en-US" sz="2000" dirty="0" err="1"/>
              <a:t>bezpieczne</a:t>
            </a:r>
            <a:r>
              <a:rPr lang="en-US" sz="2000" dirty="0"/>
              <a:t> </a:t>
            </a:r>
            <a:r>
              <a:rPr lang="en-US" sz="2000" dirty="0" err="1"/>
              <a:t>serwowanie</a:t>
            </a:r>
            <a:r>
              <a:rPr lang="en-US" sz="2000" dirty="0"/>
              <a:t>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Najlepszy</a:t>
            </a:r>
            <a:r>
              <a:rPr lang="en-US" sz="2000" dirty="0"/>
              <a:t> </a:t>
            </a:r>
            <a:r>
              <a:rPr lang="en-US" sz="2000" dirty="0" err="1"/>
              <a:t>plik</a:t>
            </a:r>
            <a:r>
              <a:rPr lang="en-US" sz="2000" dirty="0"/>
              <a:t> do </a:t>
            </a:r>
            <a:r>
              <a:rPr lang="en-US" sz="2000" dirty="0" err="1"/>
              <a:t>wykonania</a:t>
            </a:r>
            <a:r>
              <a:rPr lang="en-US" sz="2000" dirty="0"/>
              <a:t> </a:t>
            </a:r>
            <a:r>
              <a:rPr lang="en-US" sz="2000" dirty="0" err="1"/>
              <a:t>przez</a:t>
            </a:r>
            <a:r>
              <a:rPr lang="en-US" sz="2000" dirty="0"/>
              <a:t> </a:t>
            </a:r>
            <a:r>
              <a:rPr lang="en-US" sz="2000" dirty="0" err="1"/>
              <a:t>serwer</a:t>
            </a:r>
            <a:r>
              <a:rPr lang="en-US" sz="2000" dirty="0"/>
              <a:t> to </a:t>
            </a:r>
            <a:r>
              <a:rPr lang="en-US" sz="2000" dirty="0" err="1"/>
              <a:t>taki</a:t>
            </a:r>
            <a:r>
              <a:rPr lang="en-US" sz="2000" dirty="0"/>
              <a:t>, </a:t>
            </a:r>
            <a:r>
              <a:rPr lang="en-US" sz="2000" dirty="0" err="1"/>
              <a:t>który</a:t>
            </a:r>
            <a:r>
              <a:rPr lang="en-US" sz="2000" dirty="0"/>
              <a:t> </a:t>
            </a:r>
            <a:r>
              <a:rPr lang="en-US" sz="2000" dirty="0" err="1"/>
              <a:t>nigdy</a:t>
            </a:r>
            <a:r>
              <a:rPr lang="en-US" sz="2000" dirty="0"/>
              <a:t> </a:t>
            </a:r>
            <a:r>
              <a:rPr lang="en-US" sz="2000" dirty="0" err="1"/>
              <a:t>nie</a:t>
            </a:r>
            <a:r>
              <a:rPr lang="en-US" sz="2000" dirty="0"/>
              <a:t> </a:t>
            </a:r>
            <a:r>
              <a:rPr lang="en-US" sz="2000" dirty="0" err="1"/>
              <a:t>trafił</a:t>
            </a:r>
            <a:r>
              <a:rPr lang="en-US" sz="2000" dirty="0"/>
              <a:t> tam, </a:t>
            </a:r>
            <a:r>
              <a:rPr lang="en-US" sz="2000" dirty="0" err="1"/>
              <a:t>gdzie</a:t>
            </a:r>
            <a:r>
              <a:rPr lang="en-US" sz="2000" dirty="0"/>
              <a:t> </a:t>
            </a:r>
            <a:r>
              <a:rPr lang="en-US" sz="2000" dirty="0" err="1"/>
              <a:t>kod</a:t>
            </a:r>
            <a:r>
              <a:rPr lang="en-US" sz="2000" dirty="0"/>
              <a:t> </a:t>
            </a:r>
            <a:r>
              <a:rPr lang="en-US" sz="2000" dirty="0" err="1"/>
              <a:t>się</a:t>
            </a:r>
            <a:r>
              <a:rPr lang="en-US" sz="2000" dirty="0"/>
              <a:t> </a:t>
            </a:r>
            <a:r>
              <a:rPr lang="en-US" sz="2000" dirty="0" err="1"/>
              <a:t>wykonuje</a:t>
            </a:r>
            <a:r>
              <a:rPr lang="en-US" sz="2000" dirty="0"/>
              <a:t>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Bezpieczeństwo</a:t>
            </a:r>
            <a:r>
              <a:rPr lang="en-US" sz="2000" dirty="0"/>
              <a:t> </a:t>
            </a:r>
            <a:r>
              <a:rPr lang="en-US" sz="2000" dirty="0" err="1"/>
              <a:t>uploadu</a:t>
            </a:r>
            <a:r>
              <a:rPr lang="en-US" sz="2000" dirty="0"/>
              <a:t> to </a:t>
            </a:r>
            <a:r>
              <a:rPr lang="en-US" sz="2000" dirty="0" err="1"/>
              <a:t>również</a:t>
            </a:r>
            <a:r>
              <a:rPr lang="en-US" sz="2000" dirty="0"/>
              <a:t> </a:t>
            </a:r>
            <a:r>
              <a:rPr lang="en-US" sz="2000" dirty="0" err="1"/>
              <a:t>logi</a:t>
            </a:r>
            <a:r>
              <a:rPr lang="en-US" sz="2000" dirty="0"/>
              <a:t>, </a:t>
            </a:r>
            <a:r>
              <a:rPr lang="en-US" sz="2000" dirty="0" err="1"/>
              <a:t>alerty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testy w </a:t>
            </a:r>
            <a:r>
              <a:rPr lang="en-US" sz="2000" dirty="0" err="1"/>
              <a:t>cyklu</a:t>
            </a:r>
            <a:r>
              <a:rPr lang="en-US" sz="2000" dirty="0"/>
              <a:t> </a:t>
            </a:r>
            <a:r>
              <a:rPr lang="en-US" sz="2000" dirty="0" err="1"/>
              <a:t>życia</a:t>
            </a:r>
            <a:r>
              <a:rPr lang="en-US" sz="2000" dirty="0"/>
              <a:t> </a:t>
            </a:r>
            <a:r>
              <a:rPr lang="en-US" sz="2000" dirty="0" err="1"/>
              <a:t>aplikacji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1981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48602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90831" y="1609725"/>
            <a:ext cx="5210337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 dirty="0" err="1">
                <a:solidFill>
                  <a:srgbClr val="FFFFFF"/>
                </a:solidFill>
              </a:rPr>
              <a:t>Dziękujemy</a:t>
            </a:r>
            <a:r>
              <a:rPr sz="4200" b="1" i="0" u="none" dirty="0">
                <a:solidFill>
                  <a:srgbClr val="FFFFFF"/>
                </a:solidFill>
              </a:rPr>
              <a:t> za </a:t>
            </a:r>
            <a:r>
              <a:rPr sz="4200" b="1" i="0" u="none" dirty="0" err="1">
                <a:solidFill>
                  <a:srgbClr val="FFFFFF"/>
                </a:solidFill>
              </a:rPr>
              <a:t>uwagę</a:t>
            </a:r>
            <a:endParaRPr sz="4200" b="1" i="0" u="none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3500" y="2981325"/>
            <a:ext cx="9525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 err="1">
                <a:solidFill>
                  <a:srgbClr val="94A3B8"/>
                </a:solidFill>
              </a:rPr>
              <a:t>Najbezpieczniejszy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skrypt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na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Twoim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serwerze</a:t>
            </a:r>
            <a:r>
              <a:rPr sz="1800" b="0" i="0" u="none" dirty="0">
                <a:solidFill>
                  <a:srgbClr val="94A3B8"/>
                </a:solidFill>
              </a:rPr>
              <a:t> to ten, </a:t>
            </a:r>
            <a:r>
              <a:rPr sz="1800" b="0" i="0" u="none" dirty="0" err="1">
                <a:solidFill>
                  <a:srgbClr val="94A3B8"/>
                </a:solidFill>
              </a:rPr>
              <a:t>który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nigdy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nie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dostał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szansy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na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uruchomienie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poza</a:t>
            </a:r>
            <a:r>
              <a:rPr sz="1800" b="0" i="0" u="none" dirty="0">
                <a:solidFill>
                  <a:srgbClr val="94A3B8"/>
                </a:solidFill>
              </a:rPr>
              <a:t> </a:t>
            </a:r>
            <a:r>
              <a:rPr sz="1800" b="0" i="0" u="none" dirty="0" err="1">
                <a:solidFill>
                  <a:srgbClr val="94A3B8"/>
                </a:solidFill>
              </a:rPr>
              <a:t>kwarantanną</a:t>
            </a:r>
            <a:r>
              <a:rPr sz="1800" b="0" i="0" u="none" dirty="0">
                <a:solidFill>
                  <a:srgbClr val="94A3B8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6243" y="6010889"/>
            <a:ext cx="298716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64748B"/>
                </a:solidFill>
              </a:rPr>
              <a:t>OWASP File Upload Cheat Sheet | WSTG | CWE-434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1133</Words>
  <Application>Microsoft Office PowerPoint</Application>
  <PresentationFormat>Panoramiczny</PresentationFormat>
  <Paragraphs>178</Paragraphs>
  <Slides>16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20" baseType="lpstr">
      <vt:lpstr>Arial</vt:lpstr>
      <vt:lpstr>Aptos</vt:lpstr>
      <vt:lpstr>Aptos Display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Michał Sałapat</dc:creator>
  <cp:keywords/>
  <dc:description>generated using python-pptx</dc:description>
  <cp:lastModifiedBy>Michał Sałapat</cp:lastModifiedBy>
  <cp:revision>4</cp:revision>
  <dcterms:created xsi:type="dcterms:W3CDTF">2013-01-27T09:14:16Z</dcterms:created>
  <dcterms:modified xsi:type="dcterms:W3CDTF">2026-10-16T14:33:12Z</dcterms:modified>
  <cp:category/>
</cp:coreProperties>
</file>